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7f2a6e4a9d44c9" /><Relationship Type="http://schemas.openxmlformats.org/officeDocument/2006/relationships/extended-properties" Target="/docProps/app.xml" Id="Rfad008ebbe3d4a74" /><Relationship Type="http://schemas.openxmlformats.org/officeDocument/2006/relationships/officeDocument" Target="/ppt/presentation.xml" Id="R9e197f0266d14a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93f984b3da439e"/>
  </p:sldMasterIdLst>
  <p:notesMasterIdLst>
    <p:notesMasterId xmlns:r="http://schemas.openxmlformats.org/officeDocument/2006/relationships" r:id="Rb4c63b7350b648ef"/>
  </p:notesMasterIdLst>
  <p:sldIdLst>
    <p:sldId xmlns:r="http://schemas.openxmlformats.org/officeDocument/2006/relationships" id="256" r:id="R56161184c7604c22"/>
    <p:sldId xmlns:r="http://schemas.openxmlformats.org/officeDocument/2006/relationships" id="257" r:id="Rc995ecf421f34d7e"/>
    <p:sldId xmlns:r="http://schemas.openxmlformats.org/officeDocument/2006/relationships" id="258" r:id="R8d8d6cbf344e4970"/>
    <p:sldId xmlns:r="http://schemas.openxmlformats.org/officeDocument/2006/relationships" id="259" r:id="R4cd91903989a4270"/>
    <p:sldId xmlns:r="http://schemas.openxmlformats.org/officeDocument/2006/relationships" id="260" r:id="R677204eb47074ab3"/>
    <p:sldId xmlns:r="http://schemas.openxmlformats.org/officeDocument/2006/relationships" id="261" r:id="R287ea612e13c45dc"/>
    <p:sldId xmlns:r="http://schemas.openxmlformats.org/officeDocument/2006/relationships" id="262" r:id="R44693c16c2fc4695"/>
    <p:sldId xmlns:r="http://schemas.openxmlformats.org/officeDocument/2006/relationships" id="263" r:id="R72fa7ed821a5457f"/>
    <p:sldId xmlns:r="http://schemas.openxmlformats.org/officeDocument/2006/relationships" id="264" r:id="R6adbea12ca054b3f"/>
    <p:sldId xmlns:r="http://schemas.openxmlformats.org/officeDocument/2006/relationships" id="265" r:id="R9e855d193c7f4b37"/>
    <p:sldId xmlns:r="http://schemas.openxmlformats.org/officeDocument/2006/relationships" id="266" r:id="Rde7c8d149e644df7"/>
    <p:sldId xmlns:r="http://schemas.openxmlformats.org/officeDocument/2006/relationships" id="267" r:id="R7d62b296b501461c"/>
    <p:sldId xmlns:r="http://schemas.openxmlformats.org/officeDocument/2006/relationships" id="268" r:id="R0bac4228923f4f56"/>
    <p:sldId xmlns:r="http://schemas.openxmlformats.org/officeDocument/2006/relationships" id="269" r:id="Re204cbd262e846f3"/>
    <p:sldId xmlns:r="http://schemas.openxmlformats.org/officeDocument/2006/relationships" id="270" r:id="Rd73cf6a0d04e4e64"/>
    <p:sldId xmlns:r="http://schemas.openxmlformats.org/officeDocument/2006/relationships" id="271" r:id="Raea9d7301d41499a"/>
    <p:sldId xmlns:r="http://schemas.openxmlformats.org/officeDocument/2006/relationships" id="272" r:id="R030a8e1bd67244a5"/>
    <p:sldId xmlns:r="http://schemas.openxmlformats.org/officeDocument/2006/relationships" id="273" r:id="R8494920cfec0446d"/>
    <p:sldId xmlns:r="http://schemas.openxmlformats.org/officeDocument/2006/relationships" id="274" r:id="Rd58242cc00ac4a8b"/>
    <p:sldId xmlns:r="http://schemas.openxmlformats.org/officeDocument/2006/relationships" id="275" r:id="Rf58772d6b50f466d"/>
    <p:sldId xmlns:r="http://schemas.openxmlformats.org/officeDocument/2006/relationships" id="276" r:id="Ra5a553f9b35343b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cb6c672fb74325" /><Relationship Type="http://schemas.openxmlformats.org/officeDocument/2006/relationships/slideMaster" Target="/ppt/slideMasters/slideMaster1.xml" Id="Raf93f984b3da439e" /><Relationship Type="http://schemas.openxmlformats.org/officeDocument/2006/relationships/notesMaster" Target="/ppt/notesMasters/notesMaster1.xml" Id="Rb4c63b7350b648ef" /><Relationship Type="http://schemas.openxmlformats.org/officeDocument/2006/relationships/presProps" Target="/ppt/presProps.xml" Id="R8bafda277f6e4293" /><Relationship Type="http://schemas.openxmlformats.org/officeDocument/2006/relationships/tableStyles" Target="/ppt/tableStyles.xml" Id="Rb14e6bd9e8fd484b" /><Relationship Type="http://schemas.openxmlformats.org/officeDocument/2006/relationships/slide" Target="/ppt/slides/slide1.xml" Id="R56161184c7604c22" /><Relationship Type="http://schemas.openxmlformats.org/officeDocument/2006/relationships/slide" Target="/ppt/slides/slide2.xml" Id="Rc995ecf421f34d7e" /><Relationship Type="http://schemas.openxmlformats.org/officeDocument/2006/relationships/slide" Target="/ppt/slides/slide3.xml" Id="R8d8d6cbf344e4970" /><Relationship Type="http://schemas.openxmlformats.org/officeDocument/2006/relationships/slide" Target="/ppt/slides/slide4.xml" Id="R4cd91903989a4270" /><Relationship Type="http://schemas.openxmlformats.org/officeDocument/2006/relationships/slide" Target="/ppt/slides/slide5.xml" Id="R677204eb47074ab3" /><Relationship Type="http://schemas.openxmlformats.org/officeDocument/2006/relationships/slide" Target="/ppt/slides/slide6.xml" Id="R287ea612e13c45dc" /><Relationship Type="http://schemas.openxmlformats.org/officeDocument/2006/relationships/slide" Target="/ppt/slides/slide7.xml" Id="R44693c16c2fc4695" /><Relationship Type="http://schemas.openxmlformats.org/officeDocument/2006/relationships/slide" Target="/ppt/slides/slide8.xml" Id="R72fa7ed821a5457f" /><Relationship Type="http://schemas.openxmlformats.org/officeDocument/2006/relationships/slide" Target="/ppt/slides/slide9.xml" Id="R6adbea12ca054b3f" /><Relationship Type="http://schemas.openxmlformats.org/officeDocument/2006/relationships/slide" Target="/ppt/slides/slide10.xml" Id="R9e855d193c7f4b37" /><Relationship Type="http://schemas.openxmlformats.org/officeDocument/2006/relationships/slide" Target="/ppt/slides/slide11.xml" Id="Rde7c8d149e644df7" /><Relationship Type="http://schemas.openxmlformats.org/officeDocument/2006/relationships/slide" Target="/ppt/slides/slide12.xml" Id="R7d62b296b501461c" /><Relationship Type="http://schemas.openxmlformats.org/officeDocument/2006/relationships/slide" Target="/ppt/slides/slide13.xml" Id="R0bac4228923f4f56" /><Relationship Type="http://schemas.openxmlformats.org/officeDocument/2006/relationships/slide" Target="/ppt/slides/slide14.xml" Id="Re204cbd262e846f3" /><Relationship Type="http://schemas.openxmlformats.org/officeDocument/2006/relationships/slide" Target="/ppt/slides/slide15.xml" Id="Rd73cf6a0d04e4e64" /><Relationship Type="http://schemas.openxmlformats.org/officeDocument/2006/relationships/slide" Target="/ppt/slides/slide16.xml" Id="Raea9d7301d41499a" /><Relationship Type="http://schemas.openxmlformats.org/officeDocument/2006/relationships/slide" Target="/ppt/slides/slide17.xml" Id="R030a8e1bd67244a5" /><Relationship Type="http://schemas.openxmlformats.org/officeDocument/2006/relationships/slide" Target="/ppt/slides/slide18.xml" Id="R8494920cfec0446d" /><Relationship Type="http://schemas.openxmlformats.org/officeDocument/2006/relationships/slide" Target="/ppt/slides/slide19.xml" Id="Rd58242cc00ac4a8b" /><Relationship Type="http://schemas.openxmlformats.org/officeDocument/2006/relationships/slide" Target="/ppt/slides/slide20.xml" Id="Rf58772d6b50f466d" /><Relationship Type="http://schemas.openxmlformats.org/officeDocument/2006/relationships/slide" Target="/ppt/slides/slide21.xml" Id="Ra5a553f9b35343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031507071f45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4caa5ce0104251" /><Relationship Type="http://schemas.openxmlformats.org/officeDocument/2006/relationships/notesMaster" Target="/ppt/notesMasters/notesMaster1.xml" Id="Rd62f9dd6777046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95a879c0c34d9d" /><Relationship Type="http://schemas.openxmlformats.org/officeDocument/2006/relationships/notesMaster" Target="/ppt/notesMasters/notesMaster1.xml" Id="R7c0868d2911e4f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1362df9fd84301" /><Relationship Type="http://schemas.openxmlformats.org/officeDocument/2006/relationships/notesMaster" Target="/ppt/notesMasters/notesMaster1.xml" Id="R0b43f0440fac4c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906c2a79ee4b6d" /><Relationship Type="http://schemas.openxmlformats.org/officeDocument/2006/relationships/notesMaster" Target="/ppt/notesMasters/notesMaster1.xml" Id="R2adb9d560f5b49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1f1548408e43ca" /><Relationship Type="http://schemas.openxmlformats.org/officeDocument/2006/relationships/notesMaster" Target="/ppt/notesMasters/notesMaster1.xml" Id="R4fe966e7d02548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2c19e6871d4f33" /><Relationship Type="http://schemas.openxmlformats.org/officeDocument/2006/relationships/notesMaster" Target="/ppt/notesMasters/notesMaster1.xml" Id="Ref27c0d95f0943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a90d670aaf452b" /><Relationship Type="http://schemas.openxmlformats.org/officeDocument/2006/relationships/notesMaster" Target="/ppt/notesMasters/notesMaster1.xml" Id="R0771751e9ff84d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340e85d6a74fee" /><Relationship Type="http://schemas.openxmlformats.org/officeDocument/2006/relationships/notesMaster" Target="/ppt/notesMasters/notesMaster1.xml" Id="R3b30ab3e15ce4d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c2689791b84c3e" /><Relationship Type="http://schemas.openxmlformats.org/officeDocument/2006/relationships/notesMaster" Target="/ppt/notesMasters/notesMaster1.xml" Id="R0a9cdd5e9d5a40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d65e1c601a4577" /><Relationship Type="http://schemas.openxmlformats.org/officeDocument/2006/relationships/notesMaster" Target="/ppt/notesMasters/notesMaster1.xml" Id="R84d22042dec54b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f20cd3547d43fd" /><Relationship Type="http://schemas.openxmlformats.org/officeDocument/2006/relationships/notesMaster" Target="/ppt/notesMasters/notesMaster1.xml" Id="Ra34127dd9cc642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55ae5e0cd24021" /><Relationship Type="http://schemas.openxmlformats.org/officeDocument/2006/relationships/notesMaster" Target="/ppt/notesMasters/notesMaster1.xml" Id="R6e82f926bfef4d5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c331c674a3843f3" /><Relationship Type="http://schemas.openxmlformats.org/officeDocument/2006/relationships/notesMaster" Target="/ppt/notesMasters/notesMaster1.xml" Id="R3d46cd40b8044e5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eeb04c4aa4c48f7" /><Relationship Type="http://schemas.openxmlformats.org/officeDocument/2006/relationships/notesMaster" Target="/ppt/notesMasters/notesMaster1.xml" Id="Racdbc8143381495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91ff6affcc54d49" /><Relationship Type="http://schemas.openxmlformats.org/officeDocument/2006/relationships/notesMaster" Target="/ppt/notesMasters/notesMaster1.xml" Id="Raa1e49e2c61e44f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451d5a99e2d4bfc" /><Relationship Type="http://schemas.openxmlformats.org/officeDocument/2006/relationships/notesMaster" Target="/ppt/notesMasters/notesMaster1.xml" Id="R27f2a59cfab249b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27b3793c74e439a" /><Relationship Type="http://schemas.openxmlformats.org/officeDocument/2006/relationships/notesMaster" Target="/ppt/notesMasters/notesMaster1.xml" Id="R4ce2de384a87419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850cc1dd5054424" /><Relationship Type="http://schemas.openxmlformats.org/officeDocument/2006/relationships/notesMaster" Target="/ppt/notesMasters/notesMaster1.xml" Id="Ra90f2ec3b9d6460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e6c7eb9ea2e4311" /><Relationship Type="http://schemas.openxmlformats.org/officeDocument/2006/relationships/notesMaster" Target="/ppt/notesMasters/notesMaster1.xml" Id="R020e2a0107044a2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03ad6642be64ab4" /><Relationship Type="http://schemas.openxmlformats.org/officeDocument/2006/relationships/notesMaster" Target="/ppt/notesMasters/notesMaster1.xml" Id="R65ef9903a0af403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a20f874ce80472f" /><Relationship Type="http://schemas.openxmlformats.org/officeDocument/2006/relationships/notesMaster" Target="/ppt/notesMasters/notesMaster1.xml" Id="Rd036373b01c04c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2bffe87d504e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2d469327a14714" /><Relationship Type="http://schemas.openxmlformats.org/officeDocument/2006/relationships/slideLayout" Target="/ppt/slideLayouts/slideLayout1.xml" Id="Rd538bf9a663d4b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38bf9a663d4b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52c668ce14cb2" /><Relationship Type="http://schemas.openxmlformats.org/officeDocument/2006/relationships/image" Target="/ppt/media/image.png" Id="R6d43f794d647483b" /><Relationship Type="http://schemas.openxmlformats.org/officeDocument/2006/relationships/image" Target="/ppt/media/image2.png" Id="Rb6c58837e592463f" /><Relationship Type="http://schemas.openxmlformats.org/officeDocument/2006/relationships/notesSlide" Target="/ppt/notesSlides/notesSlide1.xml" Id="Rdde1d565903244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a90f5e301420f" /><Relationship Type="http://schemas.openxmlformats.org/officeDocument/2006/relationships/notesSlide" Target="/ppt/notesSlides/notesSlide2.xml" Id="R4fe1a22bc4184b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fff1924994b02" /><Relationship Type="http://schemas.openxmlformats.org/officeDocument/2006/relationships/notesSlide" Target="/ppt/notesSlides/notesSlide3.xml" Id="R18bfa065270448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6e3c5e5594cf9" /><Relationship Type="http://schemas.openxmlformats.org/officeDocument/2006/relationships/notesSlide" Target="/ppt/notesSlides/notesSlide4.xml" Id="R7b3a2b5eeb7740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aae8485f1403c" /><Relationship Type="http://schemas.openxmlformats.org/officeDocument/2006/relationships/image" Target="/ppt/media/image3.png" Id="Rd5c33ce22bde4c6b" /><Relationship Type="http://schemas.openxmlformats.org/officeDocument/2006/relationships/image" Target="/ppt/media/image4.png" Id="R4ddce5e5976b4901" /><Relationship Type="http://schemas.openxmlformats.org/officeDocument/2006/relationships/notesSlide" Target="/ppt/notesSlides/notesSlide5.xml" Id="R9a9ad44c1c344a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ca1b424e44189" /><Relationship Type="http://schemas.openxmlformats.org/officeDocument/2006/relationships/image" Target="/ppt/media/image5.png" Id="Red6a6b9021ef4f18" /><Relationship Type="http://schemas.openxmlformats.org/officeDocument/2006/relationships/image" Target="/ppt/media/image6.png" Id="Re37fe5f9be214b4e" /><Relationship Type="http://schemas.openxmlformats.org/officeDocument/2006/relationships/notesSlide" Target="/ppt/notesSlides/notesSlide6.xml" Id="Rfae6c796e83b4c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33a3136a84e04" /><Relationship Type="http://schemas.openxmlformats.org/officeDocument/2006/relationships/image" Target="/ppt/media/image7.png" Id="Rea01bd9845ca4d0d" /><Relationship Type="http://schemas.openxmlformats.org/officeDocument/2006/relationships/image" Target="/ppt/media/image8.png" Id="R72dee05af0934e16" /><Relationship Type="http://schemas.openxmlformats.org/officeDocument/2006/relationships/notesSlide" Target="/ppt/notesSlides/notesSlide7.xml" Id="R77a987394b3545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39b96e4b54ea5" /><Relationship Type="http://schemas.openxmlformats.org/officeDocument/2006/relationships/image" Target="/ppt/media/image9.png" Id="R7e04fa1347cd43ee" /><Relationship Type="http://schemas.openxmlformats.org/officeDocument/2006/relationships/image" Target="/ppt/media/image10.png" Id="R445f58c345e44e98" /><Relationship Type="http://schemas.openxmlformats.org/officeDocument/2006/relationships/notesSlide" Target="/ppt/notesSlides/notesSlide8.xml" Id="R80d1323d14ee43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1eb8d32e944f8" /><Relationship Type="http://schemas.openxmlformats.org/officeDocument/2006/relationships/image" Target="/ppt/media/image11.png" Id="R6cb85b4e301d4110" /><Relationship Type="http://schemas.openxmlformats.org/officeDocument/2006/relationships/image" Target="/ppt/media/image12.png" Id="Rabc145ad603744fe" /><Relationship Type="http://schemas.openxmlformats.org/officeDocument/2006/relationships/notesSlide" Target="/ppt/notesSlides/notesSlide9.xml" Id="Radd1d01ea68c4b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21abcda894969" /><Relationship Type="http://schemas.openxmlformats.org/officeDocument/2006/relationships/image" Target="/ppt/media/image13.png" Id="Rf8789b11d93e4717" /><Relationship Type="http://schemas.openxmlformats.org/officeDocument/2006/relationships/image" Target="/ppt/media/image14.png" Id="Rce9d78c85bb9478e" /><Relationship Type="http://schemas.openxmlformats.org/officeDocument/2006/relationships/notesSlide" Target="/ppt/notesSlides/notesSlide10.xml" Id="R5e49f1cd137e48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1ae716feb4a36" /><Relationship Type="http://schemas.openxmlformats.org/officeDocument/2006/relationships/image" Target="/ppt/media/image15.png" Id="Re4e162a462cb4f00" /><Relationship Type="http://schemas.openxmlformats.org/officeDocument/2006/relationships/image" Target="/ppt/media/image16.png" Id="R0b2d85dc226a4fe8" /><Relationship Type="http://schemas.openxmlformats.org/officeDocument/2006/relationships/notesSlide" Target="/ppt/notesSlides/notesSlide11.xml" Id="Rafe954f69a594b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6fd61c3a6404d" /><Relationship Type="http://schemas.openxmlformats.org/officeDocument/2006/relationships/image" Target="/ppt/media/image17.png" Id="R89dce5ae89f842d9" /><Relationship Type="http://schemas.openxmlformats.org/officeDocument/2006/relationships/image" Target="/ppt/media/image18.png" Id="Rd24f4b3bc2e84119" /><Relationship Type="http://schemas.openxmlformats.org/officeDocument/2006/relationships/notesSlide" Target="/ppt/notesSlides/notesSlide12.xml" Id="Rf73cf5b7f4d749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2e196c8c746da" /><Relationship Type="http://schemas.openxmlformats.org/officeDocument/2006/relationships/image" Target="/ppt/media/image19.png" Id="R7a782b816e354d9f" /><Relationship Type="http://schemas.openxmlformats.org/officeDocument/2006/relationships/image" Target="/ppt/media/image20.png" Id="R20001b8772fa4d30" /><Relationship Type="http://schemas.openxmlformats.org/officeDocument/2006/relationships/notesSlide" Target="/ppt/notesSlides/notesSlide13.xml" Id="Rda1625aa7fdd47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1bb8eafa2434c" /><Relationship Type="http://schemas.openxmlformats.org/officeDocument/2006/relationships/image" Target="/ppt/media/image21.png" Id="Rc01accb4aa934a33" /><Relationship Type="http://schemas.openxmlformats.org/officeDocument/2006/relationships/image" Target="/ppt/media/image22.png" Id="R928f70d2ed2e4ad9" /><Relationship Type="http://schemas.openxmlformats.org/officeDocument/2006/relationships/notesSlide" Target="/ppt/notesSlides/notesSlide14.xml" Id="R8cca538872ae439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74694334d42b1" /><Relationship Type="http://schemas.openxmlformats.org/officeDocument/2006/relationships/image" Target="/ppt/media/image23.png" Id="R6b1535d5c0d74560" /><Relationship Type="http://schemas.openxmlformats.org/officeDocument/2006/relationships/image" Target="/ppt/media/image24.png" Id="Re1abc6e4cf6948a6" /><Relationship Type="http://schemas.openxmlformats.org/officeDocument/2006/relationships/notesSlide" Target="/ppt/notesSlides/notesSlide15.xml" Id="R66bd2501133e4a1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3a4ff60b249a4" /><Relationship Type="http://schemas.openxmlformats.org/officeDocument/2006/relationships/image" Target="/ppt/media/image25.png" Id="R2b181543b9f84a7b" /><Relationship Type="http://schemas.openxmlformats.org/officeDocument/2006/relationships/image" Target="/ppt/media/image26.png" Id="R8fd6646318af40e2" /><Relationship Type="http://schemas.openxmlformats.org/officeDocument/2006/relationships/notesSlide" Target="/ppt/notesSlides/notesSlide16.xml" Id="Rfe7ce629a67745b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a754a73c34063" /><Relationship Type="http://schemas.openxmlformats.org/officeDocument/2006/relationships/image" Target="/ppt/media/image27.png" Id="Rf9e5ff5a18e54dee" /><Relationship Type="http://schemas.openxmlformats.org/officeDocument/2006/relationships/image" Target="/ppt/media/image28.png" Id="Ra04bdbb0fd4b4159" /><Relationship Type="http://schemas.openxmlformats.org/officeDocument/2006/relationships/notesSlide" Target="/ppt/notesSlides/notesSlide17.xml" Id="Re322128f3693420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dcf13df754ce2" /><Relationship Type="http://schemas.openxmlformats.org/officeDocument/2006/relationships/image" Target="/ppt/media/image29.png" Id="R0177168b3fa448e9" /><Relationship Type="http://schemas.openxmlformats.org/officeDocument/2006/relationships/image" Target="/ppt/media/image30.png" Id="R1e37158ad92a414d" /><Relationship Type="http://schemas.openxmlformats.org/officeDocument/2006/relationships/notesSlide" Target="/ppt/notesSlides/notesSlide18.xml" Id="R2e05c78ed45144e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84425c9a34173" /><Relationship Type="http://schemas.openxmlformats.org/officeDocument/2006/relationships/notesSlide" Target="/ppt/notesSlides/notesSlide19.xml" Id="R74742ceed1b243a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453f5151f451c" /><Relationship Type="http://schemas.openxmlformats.org/officeDocument/2006/relationships/notesSlide" Target="/ppt/notesSlides/notesSlide20.xml" Id="R1eea2824d0b7481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c1a752fde4398" /><Relationship Type="http://schemas.openxmlformats.org/officeDocument/2006/relationships/notesSlide" Target="/ppt/notesSlides/notesSlide21.xml" Id="Rf0b81a0adc0a43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A188A0-60D1-4984-98FF-01A2D943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0707"/>
                </a:solidFill>
              </a:defRPr>
            </a:pPr>
            <a:r>
              <a:rPr sz="1950" b="1">
                <a:solidFill>
                  <a:srgbClr val="070707"/>
                </a:solidFill>
              </a:rPr>
              <a:t>Morax Life RPG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E0F8E-F5F9-4389-A2BB-EBE8FC66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7810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70707"/>
                </a:solidFill>
              </a:defRPr>
            </a:pPr>
            <a:r>
              <a:rPr sz="4200" b="1">
                <a:solidFill>
                  <a:srgbClr val="070707"/>
                </a:solidFill>
              </a:rPr>
              <a:t>Comparatif concurrentiel</a:t>
            </a:r>
          </a:p>
          <a:p xmlns:a="http://schemas.openxmlformats.org/drawingml/2006/main">
            <a:pPr>
              <a:defRPr sz="4200" b="1">
                <a:solidFill>
                  <a:srgbClr val="070707"/>
                </a:solidFill>
              </a:defRPr>
            </a:pPr>
            <a:r>
              <a:rPr sz="4200" b="1">
                <a:solidFill>
                  <a:srgbClr val="070707"/>
                </a:solidFill>
              </a:rPr>
              <a:t>Life RPG, focus games et productivité ADHD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3E543-09F3-46C5-B541-5D3F528D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Lecture visuelle et stratégique pour cadrer la planification produit.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82025-2F4C-411C-AF1E-3A6684D0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123950"/>
            <a:ext cx="34290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3f794d647483b"/>
          <a:srcRect xmlns:a="http://schemas.openxmlformats.org/drawingml/2006/main" l="0" t="6416" r="0" b="64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3375" y="1371600"/>
            <a:ext cx="2952750" cy="18097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58837e592463f"/>
          <a:srcRect xmlns:a="http://schemas.openxmlformats.org/drawingml/2006/main" l="0" t="11004" r="0" b="110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3375" y="3409950"/>
            <a:ext cx="2952750" cy="1619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62E3A-4F01-4BFD-AE71-7457461B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6197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0707"/>
                </a:solidFill>
              </a:defRPr>
            </a:pPr>
            <a:r>
              <a:rPr sz="1350" b="1">
                <a:solidFill>
                  <a:srgbClr val="070707"/>
                </a:solidFill>
              </a:rPr>
              <a:t>Positionnement cible : avatar 3D personnel + quêtes vérifiées + Station Focus ADHD-friendly.</a:t>
            </a:r>
          </a:p>
        </p:txBody>
      </p:sp>
    </p:spTree>
    <p:extLst>
      <p:ext uri="{BB962C8B-B14F-4D97-AF65-F5344CB8AC3E}">
        <p14:creationId xmlns:p14="http://schemas.microsoft.com/office/powerpoint/2010/main" val="4088125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063EAF-CF3E-4B97-98B1-C2F7D49A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SYNTHÈSE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0C0C5-B5F9-4620-B585-0B1375D8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0707"/>
                </a:solidFill>
              </a:defRPr>
            </a:pPr>
            <a:r>
              <a:rPr sz="2700" b="1">
                <a:solidFill>
                  <a:srgbClr val="070707"/>
                </a:solidFill>
              </a:rPr>
              <a:t>Le marché est riche visuellement, mais fragmenté fonctionnellement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9ED02-4C19-414C-8BCF-2B509E3D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8A5FD-2088-4E3A-BD3A-B3622801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707"/>
                </a:solidFill>
              </a:defRPr>
            </a:pPr>
            <a:r>
              <a:rPr sz="1800" b="1">
                <a:solidFill>
                  <a:srgbClr val="070707"/>
                </a:solidFill>
              </a:rPr>
              <a:t>Focus games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42309-3B42-4DF0-A126-8EAE6B03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002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gogh, Spirit City, Focus Friend, Forest et Focus Traveller créent une présence visuelle pendant le travail, mais restent centrés sur la session.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6DF6F-4464-445E-A7F6-3626ECA5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707"/>
                </a:solidFill>
              </a:defRPr>
            </a:pPr>
            <a:r>
              <a:rPr sz="1800" b="1">
                <a:solidFill>
                  <a:srgbClr val="070707"/>
                </a:solidFill>
              </a:rPr>
              <a:t>Life RPG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F3495-9413-45B7-AFCA-7EFE720D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670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Habitica, TaskHero, Do It Now et LifeUp structurent tâches, XP et récompenses, mais la plupart reposent sur saisie manuelle et avatars génériques.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3ECE5-7F89-4C7C-919A-6C7DDD09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707"/>
                </a:solidFill>
              </a:defRPr>
            </a:pPr>
            <a:r>
              <a:rPr sz="1800" b="1">
                <a:solidFill>
                  <a:srgbClr val="070707"/>
                </a:solidFill>
              </a:rPr>
              <a:t>ADHD productivity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3E4AA-7561-402F-93F4-F8F12744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338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Routinery, Amazing Marvin, Lunatask et Habitomic réduisent la friction exécutive, mais n’ont pas de monde vivant ni de preuve d’accomplissement.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7DC11-DD83-4FCF-A152-5DE57F35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707"/>
                </a:solidFill>
              </a:defRPr>
            </a:pPr>
            <a:r>
              <a:rPr sz="1800" b="1">
                <a:solidFill>
                  <a:srgbClr val="070707"/>
                </a:solidFill>
              </a:rPr>
              <a:t>White space Morax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1B776-1B2B-426A-AD00-7B964A78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00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Combiner avatar 3D ressemblant, quêtes réelles, preuves photo/voix/HealthKit et focus doux crée un territoire distinct.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193822-210B-47AD-BF65-5AF47E46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E8157-98D1-458D-801E-871A9E9A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Implication : Morax ne doit pas choisir entre “outil ADHD” et “jeu”. Il doit faire du jeu une couche de régulation attentionnelle.</a:t>
            </a:r>
          </a:p>
        </p:txBody>
      </p:sp>
    </p:spTree>
    <p:extLst>
      <p:ext uri="{BB962C8B-B14F-4D97-AF65-F5344CB8AC3E}">
        <p14:creationId xmlns:p14="http://schemas.microsoft.com/office/powerpoint/2010/main" val="13624200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3C1C6C-5815-4872-A407-C41250A8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CARTE CONCURRENTIELLE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B7D31-45D2-43C3-A182-AC6634AC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0707"/>
                </a:solidFill>
              </a:defRPr>
            </a:pPr>
            <a:r>
              <a:rPr sz="2700" b="1">
                <a:solidFill>
                  <a:srgbClr val="070707"/>
                </a:solidFill>
              </a:rPr>
              <a:t>Morax peut viser le quadrant encore peu occupé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B6CED-0501-493F-9CCC-C6190CA7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93BB1-72CA-45B8-BC9C-3272AFB2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66875"/>
            <a:ext cx="8572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53854-8A8B-4EAC-94BE-11ADA864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666875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AD894-AD21-4E98-97E1-09B520D5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93912-3DE0-418E-B4CB-103CC799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530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Faible présence visuelle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50D12-8D9A-49D6-9816-22B1ABD2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5530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Compagnon / monde vivant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6B26ED-18B4-4162-870B-4591B649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Session focus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72129D-2CEF-4C6E-AFFB-0AAD3F6E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28775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Life RPG</a:t>
            </a:r>
          </a:p>
          <a:p xmlns:a="http://schemas.openxmlformats.org/drawingml/2006/main">
            <a:pPr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long terme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81D37-D4E2-4264-A3BB-4834AC63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28434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9525">
            <a:solidFill>
              <a:srgbClr val="07070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9E079-BDD9-4BCE-A58F-17C58F05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24624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Forest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BA3DC5-4036-48E6-AA39-78DE5CF4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95001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9525">
            <a:solidFill>
              <a:srgbClr val="07070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8B800-BAA0-4E4D-B2B3-C8BE8633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911918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Routinery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8A0C51-5E06-46DB-8BD6-7C9B95B3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02133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9525">
            <a:solidFill>
              <a:srgbClr val="07070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61A3DA-285C-40FF-8671-7F516767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98323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Amazing Marvin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F54C29-7B51-4883-B8FD-59D7EB8E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53841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9525">
            <a:solidFill>
              <a:srgbClr val="07070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3E1A1A-2D14-49AE-A699-D937C713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500313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Habitica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C93D76-11AC-4E58-8F47-223DEA32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4985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9525">
            <a:solidFill>
              <a:srgbClr val="07070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9A73E8-DDE7-4ACB-8506-D23F7AE1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175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TaskHero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BD2FC6-AF36-49A9-B32A-C6EF336F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4139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9525">
            <a:solidFill>
              <a:srgbClr val="07070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A9A05D-6C60-4D4D-8579-1CFE519F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50329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Finch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DB5360-EC47-41DB-B869-49721B6A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28434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9525">
            <a:solidFill>
              <a:srgbClr val="07070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072A01-8EF4-42A1-90D4-BD5C5FFA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24624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Focus Friend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2AAB6A-DEFC-4EA4-9058-23DACE8D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91287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9525">
            <a:solidFill>
              <a:srgbClr val="07070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3CB67A-4431-4DC3-BEB1-0A78A85E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87477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Spirit City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989E23-2C2C-4E91-B1EA-EB86A781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65283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9525">
            <a:solidFill>
              <a:srgbClr val="07070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A56AC0-B49B-41AA-97B2-9D119ED0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614738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gogh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C1A2C1-EDFB-48B6-9B98-5D86B98A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467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9525">
            <a:solidFill>
              <a:srgbClr val="07070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516606-0EAE-49EF-921D-6492B9C6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4290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On-Together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95B9D2-A09F-46E4-BEE1-3C95E976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7838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9F9546-E231-49EA-995F-1BCB39FD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24028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Morax cible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5E1F53-8104-4F6E-B8A2-8E34A850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0707"/>
                </a:solidFill>
              </a:defRPr>
            </a:pPr>
            <a:r>
              <a:rPr sz="1725" b="1">
                <a:solidFill>
                  <a:srgbClr val="070707"/>
                </a:solidFill>
              </a:rPr>
              <a:t>Le territoire gagnant n’est pas “plus de gamification”. C’est une présence visuelle personnelle qui aide à démarrer, tenir et valider les actions réelles.</a:t>
            </a:r>
          </a:p>
        </p:txBody>
      </p:sp>
    </p:spTree>
    <p:extLst>
      <p:ext uri="{BB962C8B-B14F-4D97-AF65-F5344CB8AC3E}">
        <p14:creationId xmlns:p14="http://schemas.microsoft.com/office/powerpoint/2010/main" val="17215512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BA6C94-7B1A-4F93-AC85-7DE16B8B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MATRICE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129E4-E3F1-4C2C-AA61-8FED48D4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0707"/>
                </a:solidFill>
              </a:defRPr>
            </a:pPr>
            <a:r>
              <a:rPr sz="2700" b="1">
                <a:solidFill>
                  <a:srgbClr val="070707"/>
                </a:solidFill>
              </a:rPr>
              <a:t>Chaque famille concurrente apporte une brique, aucune ne les combine toutes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41107-3BD0-4E55-A570-9E9B8EE1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75CF5-54D9-4EF9-A7FC-CA0E1BE9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AFB58-877B-48CC-9349-1F179361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Famille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96A9B-E014-49DE-B36F-80611F1C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621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79A09-A35C-4735-8721-4F0DDE5E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Exemples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B264A-143F-434E-97FD-5B081E53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621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053E90-1D52-4552-935F-DDC1BF3A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573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Ce qui marche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305D1-2E7B-4AB0-BE77-D5389632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37A07-0C70-4E9D-BB13-00DB3A77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573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Limite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F10B75-5846-426D-BFDD-95EC6448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621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FD03AD-23DF-463D-AF7A-397C814B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1771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70707"/>
                </a:solidFill>
              </a:defRPr>
            </a:pPr>
            <a:r>
              <a:rPr sz="1275" b="0">
                <a:solidFill>
                  <a:srgbClr val="070707"/>
                </a:solidFill>
              </a:rPr>
              <a:t>Avatar / monde focus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73804-C4F2-4189-B4B7-D8A3A52D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621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51288-CBEA-486B-A26E-1E42E552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76450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 b="0">
                <a:solidFill>
                  <a:srgbClr val="555555"/>
                </a:solidFill>
              </a:defRPr>
            </a:pPr>
            <a:r>
              <a:rPr sz="1140" b="0">
                <a:solidFill>
                  <a:srgbClr val="555555"/>
                </a:solidFill>
              </a:rPr>
              <a:t>gogh, Spirit City, On-Together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6E4B6B-F97A-44B9-A419-24723073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621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86A3A0-E76A-49D8-80E0-48763816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764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 b="0">
                <a:solidFill>
                  <a:srgbClr val="555555"/>
                </a:solidFill>
              </a:defRPr>
            </a:pPr>
            <a:r>
              <a:rPr sz="1140" b="0">
                <a:solidFill>
                  <a:srgbClr val="555555"/>
                </a:solidFill>
              </a:rPr>
              <a:t>Présence, ambiance, second-screen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B2B989-A88C-4C41-8EEA-F026F482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C486FE-BD09-4298-B1B4-F3D55E5F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764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 b="0">
                <a:solidFill>
                  <a:srgbClr val="555555"/>
                </a:solidFill>
              </a:defRPr>
            </a:pPr>
            <a:r>
              <a:rPr sz="1140" b="0">
                <a:solidFill>
                  <a:srgbClr val="555555"/>
                </a:solidFill>
              </a:rPr>
              <a:t>Souvent détaché des objectifs réels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7BBA6B-FC97-4972-AF53-76C2C649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432E45-7A00-428A-9DE0-CEE95C36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1771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70707"/>
                </a:solidFill>
              </a:defRPr>
            </a:pPr>
            <a:r>
              <a:rPr sz="1275" b="0">
                <a:solidFill>
                  <a:srgbClr val="070707"/>
                </a:solidFill>
              </a:rPr>
              <a:t>Focus pets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246DEF-52C0-4DA3-A535-4D4B70F3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479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104448-21B1-4BF5-BBCB-22367C13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 b="0">
                <a:solidFill>
                  <a:srgbClr val="555555"/>
                </a:solidFill>
              </a:defRPr>
            </a:pPr>
            <a:r>
              <a:rPr sz="1140" b="0">
                <a:solidFill>
                  <a:srgbClr val="555555"/>
                </a:solidFill>
              </a:rPr>
              <a:t>Focus Friend, Study Bunny, Focus Dog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80B335-92B8-41F4-8BAC-DF946D8A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479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634428-2845-4EDF-B062-02EFD981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622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 b="0">
                <a:solidFill>
                  <a:srgbClr val="555555"/>
                </a:solidFill>
              </a:defRPr>
            </a:pPr>
            <a:r>
              <a:rPr sz="1140" b="0">
                <a:solidFill>
                  <a:srgbClr val="555555"/>
                </a:solidFill>
              </a:rPr>
              <a:t>Attachement, timer, récompense simple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591C2E-E88F-4155-8ADE-7A5CF7D3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479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76C2C6-A56F-471E-9F8E-9C0ADC4D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622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 b="0">
                <a:solidFill>
                  <a:srgbClr val="555555"/>
                </a:solidFill>
              </a:defRPr>
            </a:pPr>
            <a:r>
              <a:rPr sz="1140" b="0">
                <a:solidFill>
                  <a:srgbClr val="555555"/>
                </a:solidFill>
              </a:rPr>
              <a:t>Cible étroite et parfois culpabilisante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D43F86-E568-4E8D-A2A0-3B5642F2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337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1B1CEF-AAE4-4023-AEE7-BF1606FE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48050"/>
            <a:ext cx="1771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70707"/>
                </a:solidFill>
              </a:defRPr>
            </a:pPr>
            <a:r>
              <a:rPr sz="1275" b="0">
                <a:solidFill>
                  <a:srgbClr val="070707"/>
                </a:solidFill>
              </a:rPr>
              <a:t>Life RPG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8FD127-6D7F-499F-9FE2-5B80CC80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07F1F1-7806-4B06-A988-18D52AB6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48050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 b="0">
                <a:solidFill>
                  <a:srgbClr val="555555"/>
                </a:solidFill>
              </a:defRPr>
            </a:pPr>
            <a:r>
              <a:rPr sz="1140" b="0">
                <a:solidFill>
                  <a:srgbClr val="555555"/>
                </a:solidFill>
              </a:rPr>
              <a:t>Habitica, TaskHero, Do It Now, LifeUp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A5241D-87F3-4DFA-9C2E-F2ABE029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D46DD7-A926-4CF4-A7E2-3F13EA98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480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 b="0">
                <a:solidFill>
                  <a:srgbClr val="555555"/>
                </a:solidFill>
              </a:defRPr>
            </a:pPr>
            <a:r>
              <a:rPr sz="1140" b="0">
                <a:solidFill>
                  <a:srgbClr val="555555"/>
                </a:solidFill>
              </a:rPr>
              <a:t>Quêtes, XP, stats, progression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1148A7-8CDC-418C-871B-70B95E02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0978DA-4B48-40A9-8655-0AEE72C3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480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 b="0">
                <a:solidFill>
                  <a:srgbClr val="555555"/>
                </a:solidFill>
              </a:defRPr>
            </a:pPr>
            <a:r>
              <a:rPr sz="1140" b="0">
                <a:solidFill>
                  <a:srgbClr val="555555"/>
                </a:solidFill>
              </a:rPr>
              <a:t>Saisie manuelle et UI dense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81D5E8-367E-459B-9D56-E7BE699F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195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3D64B5-72E1-492B-9F93-EF235552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33850"/>
            <a:ext cx="1771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70707"/>
                </a:solidFill>
              </a:defRPr>
            </a:pPr>
            <a:r>
              <a:rPr sz="1275" b="0">
                <a:solidFill>
                  <a:srgbClr val="070707"/>
                </a:solidFill>
              </a:rPr>
              <a:t>ADHD OS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AE0A5B-BA06-40B4-AAB7-D9B5A039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195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BF4FEB-B051-44AE-9949-BF9E18DE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33850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 b="0">
                <a:solidFill>
                  <a:srgbClr val="555555"/>
                </a:solidFill>
              </a:defRPr>
            </a:pPr>
            <a:r>
              <a:rPr sz="1140" b="0">
                <a:solidFill>
                  <a:srgbClr val="555555"/>
                </a:solidFill>
              </a:rPr>
              <a:t>Routinery, Marvin, Lunatask, Habitomic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FA5FE1-B750-45FD-849B-97D8336D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195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01E1F3-2334-4B45-8E45-188D1C19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338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 b="0">
                <a:solidFill>
                  <a:srgbClr val="555555"/>
                </a:solidFill>
              </a:defRPr>
            </a:pPr>
            <a:r>
              <a:rPr sz="1140" b="0">
                <a:solidFill>
                  <a:srgbClr val="555555"/>
                </a:solidFill>
              </a:rPr>
              <a:t>Réduction de friction exécutive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DC9E8D-D341-4C3B-904B-0ADF7DFE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95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7DB3A9-6F00-46B2-B850-E8A18347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338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 b="0">
                <a:solidFill>
                  <a:srgbClr val="555555"/>
                </a:solidFill>
              </a:defRPr>
            </a:pPr>
            <a:r>
              <a:rPr sz="1140" b="0">
                <a:solidFill>
                  <a:srgbClr val="555555"/>
                </a:solidFill>
              </a:rPr>
              <a:t>Peu d’émotion visuelle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616E08-151C-4ABE-85AA-1071A63E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053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5816E7-A04A-4780-BA47-C18C1B03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9650"/>
            <a:ext cx="1771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70707"/>
                </a:solidFill>
              </a:defRPr>
            </a:pPr>
            <a:r>
              <a:rPr sz="1275" b="0">
                <a:solidFill>
                  <a:srgbClr val="070707"/>
                </a:solidFill>
              </a:rPr>
              <a:t>Body doubling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DED50DE-FAB1-4451-B5F7-0B936C3D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053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CB8014-E380-4A48-8860-12F300F5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819650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 b="0">
                <a:solidFill>
                  <a:srgbClr val="555555"/>
                </a:solidFill>
              </a:defRPr>
            </a:pPr>
            <a:r>
              <a:rPr sz="1140" b="0">
                <a:solidFill>
                  <a:srgbClr val="555555"/>
                </a:solidFill>
              </a:rPr>
              <a:t>Focusmate, dubbii, On-Together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2EC15CD-7D10-4343-B8DA-89D281EC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053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A008AC2-7AFB-41EC-8150-89020AD4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8196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 b="0">
                <a:solidFill>
                  <a:srgbClr val="555555"/>
                </a:solidFill>
              </a:defRPr>
            </a:pPr>
            <a:r>
              <a:rPr sz="1140" b="0">
                <a:solidFill>
                  <a:srgbClr val="555555"/>
                </a:solidFill>
              </a:rPr>
              <a:t>Accountability et démarrage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E63E7E1-C3DD-4C08-BE1F-C6C3D684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053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F199AA0-272A-4773-BC2F-0E3F2101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196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 b="0">
                <a:solidFill>
                  <a:srgbClr val="555555"/>
                </a:solidFill>
              </a:defRPr>
            </a:pPr>
            <a:r>
              <a:rPr sz="1140" b="0">
                <a:solidFill>
                  <a:srgbClr val="555555"/>
                </a:solidFill>
              </a:rPr>
              <a:t>Friction sociale ou calendrier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33F05A5-8B98-4A74-96E4-49C9D841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911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E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D993023-C134-4EDA-B1C5-78ED2DAE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05450"/>
            <a:ext cx="1771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0707"/>
                </a:solidFill>
              </a:defRPr>
            </a:pPr>
            <a:r>
              <a:rPr sz="1275" b="1">
                <a:solidFill>
                  <a:srgbClr val="070707"/>
                </a:solidFill>
              </a:rPr>
              <a:t>Morax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448F186-7394-4875-82C5-A11C950E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911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E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800069B-0C9B-4AFD-B99D-0D14A3EC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505450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 b="0">
                <a:solidFill>
                  <a:srgbClr val="555555"/>
                </a:solidFill>
              </a:defRPr>
            </a:pPr>
            <a:r>
              <a:rPr sz="1140" b="0">
                <a:solidFill>
                  <a:srgbClr val="555555"/>
                </a:solidFill>
              </a:rPr>
              <a:t>Life RPG agentic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CCE108A-CE31-4F9E-831A-13ED61C2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911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E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1B16402-E79C-49E6-8C5F-1F73EED8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5054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 b="0">
                <a:solidFill>
                  <a:srgbClr val="555555"/>
                </a:solidFill>
              </a:defRPr>
            </a:pPr>
            <a:r>
              <a:rPr sz="1140" b="0">
                <a:solidFill>
                  <a:srgbClr val="555555"/>
                </a:solidFill>
              </a:rPr>
              <a:t>Avatar 3D personnel + preuves + focus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9807F88-28F0-4F3A-B650-DDF4B59B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911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E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D8815BE-72FC-46E1-ADAD-E7116C85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5054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 b="0">
                <a:solidFill>
                  <a:srgbClr val="555555"/>
                </a:solidFill>
              </a:defRPr>
            </a:pPr>
            <a:r>
              <a:rPr sz="1140" b="0">
                <a:solidFill>
                  <a:srgbClr val="555555"/>
                </a:solidFill>
              </a:rPr>
              <a:t>Risque : complexité à masquer en V1</a:t>
            </a:r>
          </a:p>
        </p:txBody>
      </p:sp>
    </p:spTree>
    <p:extLst>
      <p:ext uri="{BB962C8B-B14F-4D97-AF65-F5344CB8AC3E}">
        <p14:creationId xmlns:p14="http://schemas.microsoft.com/office/powerpoint/2010/main" val="10315936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DE1E02-9E19-4A5B-8173-E723586E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FICHES CONCURRENTES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3DE66-D6F7-4FCD-8B42-0886D449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0707"/>
                </a:solidFill>
              </a:defRPr>
            </a:pPr>
            <a:r>
              <a:rPr sz="2700" b="1">
                <a:solidFill>
                  <a:srgbClr val="070707"/>
                </a:solidFill>
              </a:rPr>
              <a:t>Les meilleurs concurrents vendent une présence, pas un tableau de bord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85A1B-06A2-44C5-A172-C43C7B81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D0205-FC48-4667-86E8-ADF8CE04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ED136-9D95-491B-85D7-9F68F434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31213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0707"/>
                </a:solidFill>
              </a:defRPr>
            </a:pPr>
            <a:r>
              <a:rPr sz="1875" b="1">
                <a:solidFill>
                  <a:srgbClr val="070707"/>
                </a:solidFill>
              </a:rPr>
              <a:t>gogh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F19AE-ECAA-4A8F-9188-BDF513CE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409" y="3609975"/>
            <a:ext cx="220646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Avatar focus 3D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B39AD-6BAC-431B-A759-8AB69D10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86200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55555"/>
                </a:solidFill>
              </a:defRPr>
            </a:pPr>
            <a:r>
              <a:rPr sz="1163">
                <a:solidFill>
                  <a:srgbClr val="555555"/>
                </a:solidFill>
              </a:rPr>
              <a:t>Avatar personnalisable, pièce 3D, lofi, Pomodoro, focus social.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CC34B-108C-44C6-BE21-4F1AD5DA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4D"/>
                </a:solidFill>
              </a:defRPr>
            </a:pPr>
            <a:r>
              <a:rPr sz="975" b="1">
                <a:solidFill>
                  <a:srgbClr val="1F7A4D"/>
                </a:solidFill>
              </a:rPr>
              <a:t>FORCES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43CBA-1DCD-4236-BAAC-011EDC0C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Très proche du “compagnon de travail” vivant; forte valeur visuelle; ambiance personnalisable.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B1D7C6-10F3-4739-A5B4-38A268F2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2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D2A2A"/>
                </a:solidFill>
              </a:defRPr>
            </a:pPr>
            <a:r>
              <a:rPr sz="975" b="1">
                <a:solidFill>
                  <a:srgbClr val="8D2A2A"/>
                </a:solidFill>
              </a:rPr>
              <a:t>FAIBLESSES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B46285-22DE-42E9-903F-FEC2A099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2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Reste centré sur la session focus; peu de vraie progression de vie ou preuve IRL.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AEAA0-16BF-40C8-8E34-08A7AB28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RÉPONSE MORAX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5C6FBC-E2C6-4F38-97C7-91F88C1D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Garder la présence 3D, mais l’attacher aux quêtes réelles, HealthKit et progression long terme.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EA3A08-93C3-4406-B43F-4E2A246D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48350"/>
            <a:ext cx="538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555555"/>
                </a:solidFill>
              </a:defRPr>
            </a:pPr>
            <a:r>
              <a:rPr sz="713">
                <a:solidFill>
                  <a:srgbClr val="555555"/>
                </a:solidFill>
              </a:rPr>
              <a:t>gogh.gg/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67285-B866-469D-8930-86CF1075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014720-CC01-43D7-8998-8BC0D8D0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62350"/>
            <a:ext cx="31213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0707"/>
                </a:solidFill>
              </a:defRPr>
            </a:pPr>
            <a:r>
              <a:rPr sz="1875" b="1">
                <a:solidFill>
                  <a:srgbClr val="070707"/>
                </a:solidFill>
              </a:rPr>
              <a:t>On-Together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A45A96-F9F5-4101-960B-E573CF99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284" y="3609975"/>
            <a:ext cx="220646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Coworking jeu social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0DB1CE-3017-451B-A069-1E112565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86200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55555"/>
                </a:solidFill>
              </a:defRPr>
            </a:pPr>
            <a:r>
              <a:rPr sz="1163">
                <a:solidFill>
                  <a:srgbClr val="555555"/>
                </a:solidFill>
              </a:rPr>
              <a:t>Petit monde multiplayer qui reste à l’écran pendant le travail.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327193-D675-401A-B8EF-947814CA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4D"/>
                </a:solidFill>
              </a:defRPr>
            </a:pPr>
            <a:r>
              <a:rPr sz="975" b="1">
                <a:solidFill>
                  <a:srgbClr val="1F7A4D"/>
                </a:solidFill>
              </a:rPr>
              <a:t>FORCES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62F64B-06D7-4499-9186-1EFD2AB6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Excellent body doubling ludique; avatars, lobbies, pauses et sentiment de présence.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C293BA-F8FA-47CA-8F67-57354EBA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D2A2A"/>
                </a:solidFill>
              </a:defRPr>
            </a:pPr>
            <a:r>
              <a:rPr sz="975" b="1">
                <a:solidFill>
                  <a:srgbClr val="8D2A2A"/>
                </a:solidFill>
              </a:rPr>
              <a:t>FAIBLESSES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44C395-AA25-4FDD-A59C-3E21D0F0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Produit desktop/social; moins adapté à une boucle mobile personnelle et santé/habitudes.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89AB92-FC21-4B85-A608-CE7F66E3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RÉPONSE MORAX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27EB1D-243D-4978-A0C3-66068A16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Reprendre la sensation de lobby vivant, mais la rendre personnelle, mobile et non intrusive.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3E6C57-E034-4F56-A8D2-2AC86E22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848350"/>
            <a:ext cx="538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555555"/>
                </a:solidFill>
              </a:defRPr>
            </a:pPr>
            <a:r>
              <a:rPr sz="713">
                <a:solidFill>
                  <a:srgbClr val="555555"/>
                </a:solidFill>
              </a:rPr>
              <a:t>gigapuff.co/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33ce22bde4c6b"/>
          <a:srcRect xmlns:a="http://schemas.openxmlformats.org/drawingml/2006/main" l="0" t="25835" r="0" b="25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562100"/>
            <a:ext cx="5381625" cy="1828800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ce5e5976b4901"/>
          <a:srcRect xmlns:a="http://schemas.openxmlformats.org/drawingml/2006/main" l="0" t="25835" r="0" b="25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562100"/>
            <a:ext cx="5381625" cy="1828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3034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721382-CF25-49F5-A17F-0C81FFC8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FICHES CONCURRENTES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34C78-8F60-486E-9EB6-382ACFDE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0707"/>
                </a:solidFill>
              </a:defRPr>
            </a:pPr>
            <a:r>
              <a:rPr sz="2700" b="1">
                <a:solidFill>
                  <a:srgbClr val="070707"/>
                </a:solidFill>
              </a:rPr>
              <a:t>Le lofi productif prouve que l’ambiance peut porter la rétention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319B0-9406-49C3-BBEC-9581C865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A6A73-727F-4CBC-8E70-FFE9CCD5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1F766-BE61-4D9F-80B4-EA1DF102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31213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0707"/>
                </a:solidFill>
              </a:defRPr>
            </a:pPr>
            <a:r>
              <a:rPr sz="1875" b="1">
                <a:solidFill>
                  <a:srgbClr val="070707"/>
                </a:solidFill>
              </a:rPr>
              <a:t>Spirit City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FAD24-71DB-4EC5-8DAC-75B4E558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409" y="3609975"/>
            <a:ext cx="220646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Lofi productivity game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04E89-87AF-4926-B3E5-689500C0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86200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55555"/>
                </a:solidFill>
              </a:defRPr>
            </a:pPr>
            <a:r>
              <a:rPr sz="1163">
                <a:solidFill>
                  <a:srgbClr val="555555"/>
                </a:solidFill>
              </a:rPr>
              <a:t>Avatar, chambre cozy, musiques, tâches, timer et collection de créatures.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3B033-D313-44FC-BAF5-F86A077B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4D"/>
                </a:solidFill>
              </a:defRPr>
            </a:pPr>
            <a:r>
              <a:rPr sz="975" b="1">
                <a:solidFill>
                  <a:srgbClr val="1F7A4D"/>
                </a:solidFill>
              </a:rPr>
              <a:t>FORCES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CDE9B-6B5E-4265-A9A6-50F70E78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Direction artistique très forte; récompenses cosmétiques; excellent second-screen.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302B9-8F3D-47DE-A409-8F39C401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2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D2A2A"/>
                </a:solidFill>
              </a:defRPr>
            </a:pPr>
            <a:r>
              <a:rPr sz="975" b="1">
                <a:solidFill>
                  <a:srgbClr val="8D2A2A"/>
                </a:solidFill>
              </a:rPr>
              <a:t>FAIBLESSES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6FAC1-4EE7-431E-B8FE-8BACDD23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2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Pas conçu comme assistant de vie mobile; faible preuve d’accomplissement réel.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5392B-8AA3-456D-A1FF-C5E003FA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RÉPONSE MORAX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49E80-84D7-4FC9-B31B-961D6792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Aller plus RPG personnel : avatar ressemblant, quêtes vérifiées, scènes débloquées.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2BF09-4631-46DC-B6F5-669311D2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48350"/>
            <a:ext cx="538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555555"/>
                </a:solidFill>
              </a:defRPr>
            </a:pPr>
            <a:r>
              <a:rPr sz="713">
                <a:solidFill>
                  <a:srgbClr val="555555"/>
                </a:solidFill>
              </a:rPr>
              <a:t>store.steampowered.com/app/2113850/Spirit_City_Lofi_Sessions/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5AF2F5-EB83-4A73-A750-E18A90C0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FB1627-9054-4102-B911-E7715576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62350"/>
            <a:ext cx="31213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0707"/>
                </a:solidFill>
              </a:defRPr>
            </a:pPr>
            <a:r>
              <a:rPr sz="1875" b="1">
                <a:solidFill>
                  <a:srgbClr val="070707"/>
                </a:solidFill>
              </a:rPr>
              <a:t>Focus Friend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459B77-8DA1-46F9-AF83-257452BE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284" y="3609975"/>
            <a:ext cx="220646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ADHD focus companion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1F3995-3CAC-4FC0-99AC-60CD7B05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86200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55555"/>
                </a:solidFill>
              </a:defRPr>
            </a:pPr>
            <a:r>
              <a:rPr sz="1163">
                <a:solidFill>
                  <a:srgbClr val="555555"/>
                </a:solidFill>
              </a:rPr>
              <a:t>Timer cozy où un personnage travaille pendant que l’utilisateur se concentre.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04CEFC-4E12-4C03-8B52-859F18E7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4D"/>
                </a:solidFill>
              </a:defRPr>
            </a:pPr>
            <a:r>
              <a:rPr sz="975" b="1">
                <a:solidFill>
                  <a:srgbClr val="1F7A4D"/>
                </a:solidFill>
              </a:rPr>
              <a:t>FORCES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B6A958-90A5-4193-B4F3-B1142DF7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Simple, émotionnel, ADHD-friendly; récompense visuelle claire après chaque session.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128B4C-20FD-44DC-9F94-ABC2403D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D2A2A"/>
                </a:solidFill>
              </a:defRPr>
            </a:pPr>
            <a:r>
              <a:rPr sz="975" b="1">
                <a:solidFill>
                  <a:srgbClr val="8D2A2A"/>
                </a:solidFill>
              </a:rPr>
              <a:t>FAIBLESSES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148806-FEEB-422A-91A6-B84F84AD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Scope très étroit; personnage générique; risque de culpabilité si interruption.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A6C5A2-B5D3-4620-8020-F3F83238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RÉPONSE MORAX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9C6F77-EFB7-4C69-B447-7B8EBA7F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Créer une Station Focus aussi simple, mais avec avatar utilisateur et ton non culpabilisant.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04DF03-DFA7-4864-8306-D5AF9BA3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848350"/>
            <a:ext cx="538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555555"/>
                </a:solidFill>
              </a:defRPr>
            </a:pPr>
            <a:r>
              <a:rPr sz="713">
                <a:solidFill>
                  <a:srgbClr val="555555"/>
                </a:solidFill>
              </a:rPr>
              <a:t>www.yourfocusfriend.com/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a6b9021ef4f18"/>
          <a:srcRect xmlns:a="http://schemas.openxmlformats.org/drawingml/2006/main" l="0" t="25835" r="0" b="25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562100"/>
            <a:ext cx="5381625" cy="1828800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7fe5f9be214b4e"/>
          <a:srcRect xmlns:a="http://schemas.openxmlformats.org/drawingml/2006/main" l="0" t="25835" r="0" b="25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562100"/>
            <a:ext cx="5381625" cy="1828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709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B94407-72E1-4518-A7E3-DD45044A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FICHES CONCURRENTES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9CEBA-70DA-465F-96DA-4BD3D2B4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0707"/>
                </a:solidFill>
              </a:defRPr>
            </a:pPr>
            <a:r>
              <a:rPr sz="2700" b="1">
                <a:solidFill>
                  <a:srgbClr val="070707"/>
                </a:solidFill>
              </a:rPr>
              <a:t>Le focus devient plus fort quand il ressemble à un voyage partagé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E3C3F-1F20-4595-8F5B-D51931D7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8B47B-D7AF-41A0-92E9-B07D08EB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19BA7-F2A8-427B-9162-BB5BCD5D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31213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0707"/>
                </a:solidFill>
              </a:defRPr>
            </a:pPr>
            <a:r>
              <a:rPr sz="1875" b="1">
                <a:solidFill>
                  <a:srgbClr val="070707"/>
                </a:solidFill>
              </a:rPr>
              <a:t>Focus Traveller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C7B3E-6E36-4709-A5C6-26AF66CD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409" y="3609975"/>
            <a:ext cx="220646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Focus journey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6D7E4-24E2-4FE9-82C8-951E89A6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86200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55555"/>
                </a:solidFill>
              </a:defRPr>
            </a:pPr>
            <a:r>
              <a:rPr sz="1163">
                <a:solidFill>
                  <a:srgbClr val="555555"/>
                </a:solidFill>
              </a:rPr>
              <a:t>Les sessions de concentration deviennent un voyage animé avec paysages.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634B2-B98D-48EA-A1F3-E96E2E93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4D"/>
                </a:solidFill>
              </a:defRPr>
            </a:pPr>
            <a:r>
              <a:rPr sz="975" b="1">
                <a:solidFill>
                  <a:srgbClr val="1F7A4D"/>
                </a:solidFill>
              </a:rPr>
              <a:t>FORCES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F7734-7721-45BC-AFE6-8555956A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Très bonne métaphore de progression; visuels immersifs; musique et sessions de groupe.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00F30-A263-466E-A0D7-D7368CE8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2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D2A2A"/>
                </a:solidFill>
              </a:defRPr>
            </a:pPr>
            <a:r>
              <a:rPr sz="975" b="1">
                <a:solidFill>
                  <a:srgbClr val="8D2A2A"/>
                </a:solidFill>
              </a:rPr>
              <a:t>FAIBLESSES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D1296-973B-4943-BFB5-18CA72CF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2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Focus-only; progression symbolique détachée des objectifs de vie.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5C2F4-0ABE-4622-9359-EA0AC33B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RÉPONSE MORAX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59D8C-BF54-4DBB-949F-57462BA1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Utiliser le voyage comme décor de quête, pas comme unique boucle produit.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5A260F-9E53-4D7E-983B-BC2FFFA9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48350"/>
            <a:ext cx="538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555555"/>
                </a:solidFill>
              </a:defRPr>
            </a:pPr>
            <a:r>
              <a:rPr sz="713">
                <a:solidFill>
                  <a:srgbClr val="555555"/>
                </a:solidFill>
              </a:rPr>
              <a:t>focus-traveller.webflow.io/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9C5564-61C3-4EC4-8CF7-4FB08F5E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4206C0-DC65-439B-A958-BFAA68E6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62350"/>
            <a:ext cx="31213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0707"/>
                </a:solidFill>
              </a:defRPr>
            </a:pPr>
            <a:r>
              <a:rPr sz="1875" b="1">
                <a:solidFill>
                  <a:srgbClr val="070707"/>
                </a:solidFill>
              </a:rPr>
              <a:t>Focumon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2BC77E-71A5-47C8-ADAA-D3A14044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284" y="3609975"/>
            <a:ext cx="220646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ADHD focus RPG social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6A2D2C-5F34-4CF7-BA2F-E5CB0557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86200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55555"/>
                </a:solidFill>
              </a:defRPr>
            </a:pPr>
            <a:r>
              <a:rPr sz="1163">
                <a:solidFill>
                  <a:srgbClr val="555555"/>
                </a:solidFill>
              </a:rPr>
              <a:t>Focus sessions, to-dos, habitudes et parties de groupe.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6D25BF-B116-40C3-9011-BD0456A6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4D"/>
                </a:solidFill>
              </a:defRPr>
            </a:pPr>
            <a:r>
              <a:rPr sz="975" b="1">
                <a:solidFill>
                  <a:srgbClr val="1F7A4D"/>
                </a:solidFill>
              </a:rPr>
              <a:t>FORCES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2D85C0-976B-4F78-B945-56AAD828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Positionnement ADHD explicite; mélange focus + social + progression.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0AC3CA-48A9-43D3-8284-6EC0A05A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D2A2A"/>
                </a:solidFill>
              </a:defRPr>
            </a:pPr>
            <a:r>
              <a:rPr sz="975" b="1">
                <a:solidFill>
                  <a:srgbClr val="8D2A2A"/>
                </a:solidFill>
              </a:rPr>
              <a:t>FAIBLESSES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7D4B08-0365-4090-8F41-CD3E3A45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Moins premium visuellement; promesse large encore proche de l’outil de productivité.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44FB20-B517-4C67-B6ED-11CFCC37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RÉPONSE MORAX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F259A6-5B00-4D1F-9512-783CF9A9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Se différencier par avatar 3D, preuve réelle et agentic planning.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F1FD1E-C0EC-4B91-A38D-0C887F13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848350"/>
            <a:ext cx="538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555555"/>
                </a:solidFill>
              </a:defRPr>
            </a:pPr>
            <a:r>
              <a:rPr sz="713">
                <a:solidFill>
                  <a:srgbClr val="555555"/>
                </a:solidFill>
              </a:rPr>
              <a:t>www.focumon.com/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1bd9845ca4d0d"/>
          <a:srcRect xmlns:a="http://schemas.openxmlformats.org/drawingml/2006/main" l="0" t="25835" r="0" b="25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562100"/>
            <a:ext cx="5381625" cy="1828800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ee05af0934e16"/>
          <a:srcRect xmlns:a="http://schemas.openxmlformats.org/drawingml/2006/main" l="0" t="25835" r="0" b="25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562100"/>
            <a:ext cx="5381625" cy="1828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5702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522A66-6F6A-4FC8-A670-C581F8F9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FICHES CONCURRENTES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29C26-9204-41F6-9524-781E8931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0707"/>
                </a:solidFill>
              </a:defRPr>
            </a:pPr>
            <a:r>
              <a:rPr sz="2700" b="1">
                <a:solidFill>
                  <a:srgbClr val="070707"/>
                </a:solidFill>
              </a:rPr>
              <a:t>Le Life RPG existe déjà, mais il paraît souvent administré à la main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8F8C7-6CB6-40E8-9E13-190D3330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35A0C-847E-4CDC-9268-3D776D93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01AB5-4961-4681-BD64-04254392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31213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0707"/>
                </a:solidFill>
              </a:defRPr>
            </a:pPr>
            <a:r>
              <a:rPr sz="1875" b="1">
                <a:solidFill>
                  <a:srgbClr val="070707"/>
                </a:solidFill>
              </a:rPr>
              <a:t>Habitica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087F1-9D9B-4E3F-90AE-99BCABD3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409" y="3609975"/>
            <a:ext cx="220646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Life RPG historique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5FDD6-419C-4F0F-A65A-4E489040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86200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55555"/>
                </a:solidFill>
              </a:defRPr>
            </a:pPr>
            <a:r>
              <a:rPr sz="1163">
                <a:solidFill>
                  <a:srgbClr val="555555"/>
                </a:solidFill>
              </a:rPr>
              <a:t>Tâches, habitudes, avatar pixel, XP, guildes et quêtes.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6BBBD-28AC-4A04-AB72-8322998A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4D"/>
                </a:solidFill>
              </a:defRPr>
            </a:pPr>
            <a:r>
              <a:rPr sz="975" b="1">
                <a:solidFill>
                  <a:srgbClr val="1F7A4D"/>
                </a:solidFill>
              </a:rPr>
              <a:t>FORCES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DC1E8-0CBA-405C-B70F-1F1D0B73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Référence du genre; boucle RPG complète; social et communauté installés.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596F9-47CC-429D-9C6E-3706BDFB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2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D2A2A"/>
                </a:solidFill>
              </a:defRPr>
            </a:pPr>
            <a:r>
              <a:rPr sz="975" b="1">
                <a:solidFill>
                  <a:srgbClr val="8D2A2A"/>
                </a:solidFill>
              </a:rPr>
              <a:t>FAIBLESSES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51F7A-AB99-4C32-B566-F8D7F845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2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UI datée; saisie manuelle; la gamification peut devenir une couche de gestion.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57C4B-F911-4D52-AF83-E52C6669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RÉPONSE MORAX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D1CDAE-12E1-44B5-9342-36717A28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Faire moins tableur RPG et plus compagnon vivant avec validation multimodale.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1963A-26A6-411E-AD56-3110A162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48350"/>
            <a:ext cx="538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555555"/>
                </a:solidFill>
              </a:defRPr>
            </a:pPr>
            <a:r>
              <a:rPr sz="713">
                <a:solidFill>
                  <a:srgbClr val="555555"/>
                </a:solidFill>
              </a:rPr>
              <a:t>habitica.com/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62178-C8F5-49B2-AE5C-B1553573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49A60F-C608-4F13-8072-253F1EF4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62350"/>
            <a:ext cx="31213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0707"/>
                </a:solidFill>
              </a:defRPr>
            </a:pPr>
            <a:r>
              <a:rPr sz="1875" b="1">
                <a:solidFill>
                  <a:srgbClr val="070707"/>
                </a:solidFill>
              </a:rPr>
              <a:t>TaskHero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8DCA6B-DD1D-4DDD-A5FC-2735B97F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284" y="3609975"/>
            <a:ext cx="220646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Task &amp; habit RPG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669EB4-63A6-4ECB-A74E-690139BC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86200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55555"/>
                </a:solidFill>
              </a:defRPr>
            </a:pPr>
            <a:r>
              <a:rPr sz="1163">
                <a:solidFill>
                  <a:srgbClr val="555555"/>
                </a:solidFill>
              </a:rPr>
              <a:t>Héros, monstres, calendrier, timers et progression RPG.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7C48D9-AB4B-45C5-B8B0-ED0D2F20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4D"/>
                </a:solidFill>
              </a:defRPr>
            </a:pPr>
            <a:r>
              <a:rPr sz="975" b="1">
                <a:solidFill>
                  <a:srgbClr val="1F7A4D"/>
                </a:solidFill>
              </a:rPr>
              <a:t>FORCES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B07508-A99A-4CD2-95F6-615A3F88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Plus “jeu” que beaucoup de trackers; progression, combats et récompenses lisibles.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0D4DB7-D8A6-4FD6-BF6C-E35F09A7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D2A2A"/>
                </a:solidFill>
              </a:defRPr>
            </a:pPr>
            <a:r>
              <a:rPr sz="975" b="1">
                <a:solidFill>
                  <a:srgbClr val="8D2A2A"/>
                </a:solidFill>
              </a:rPr>
              <a:t>FAIBLESSES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932E62-F4EE-4280-9BA3-66B9FCC1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Fantasy générique; reste un gestionnaire de tâches gamifié.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E2675E-AD95-4F6D-9811-1E881C9C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RÉPONSE MORAX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056428-D8F9-4806-9502-963C3BD9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Remplacer le héros générique par un double stylisé et une boucle Life RPG personnalisée.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7C0702-4E8E-444F-ABCD-B615D124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848350"/>
            <a:ext cx="538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555555"/>
                </a:solidFill>
              </a:defRPr>
            </a:pPr>
            <a:r>
              <a:rPr sz="713">
                <a:solidFill>
                  <a:srgbClr val="555555"/>
                </a:solidFill>
              </a:rPr>
              <a:t>taskhero.app/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4fa1347cd43ee"/>
          <a:srcRect xmlns:a="http://schemas.openxmlformats.org/drawingml/2006/main" l="0" t="25835" r="0" b="25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562100"/>
            <a:ext cx="5381625" cy="1828800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f58c345e44e98"/>
          <a:srcRect xmlns:a="http://schemas.openxmlformats.org/drawingml/2006/main" l="0" t="25835" r="0" b="25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562100"/>
            <a:ext cx="5381625" cy="1828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47608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C5FCD6-6980-420A-9E5F-5808FF25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FICHES CONCURRENTES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9553F-2F14-4974-9AE5-C3CDFA75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0707"/>
                </a:solidFill>
              </a:defRPr>
            </a:pPr>
            <a:r>
              <a:rPr sz="2700" b="1">
                <a:solidFill>
                  <a:srgbClr val="070707"/>
                </a:solidFill>
              </a:rPr>
              <a:t>La profondeur RPG attire les power users, puis peut les fatiguer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FE41C-DEE3-4295-BA04-284BCEAB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D8738-DADA-4390-AB90-915F615A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4CA5C8-193E-4B5A-A06E-E202C4D7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31213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0707"/>
                </a:solidFill>
              </a:defRPr>
            </a:pPr>
            <a:r>
              <a:rPr sz="1875" b="1">
                <a:solidFill>
                  <a:srgbClr val="070707"/>
                </a:solidFill>
              </a:rPr>
              <a:t>Do It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E07CB-392B-4BFE-B402-4BBDD403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409" y="3609975"/>
            <a:ext cx="220646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RPG to-do 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CD660-3151-4036-AEB9-0E21E346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86200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55555"/>
                </a:solidFill>
              </a:defRPr>
            </a:pPr>
            <a:r>
              <a:rPr sz="1163">
                <a:solidFill>
                  <a:srgbClr val="555555"/>
                </a:solidFill>
              </a:rPr>
              <a:t>To-do, calendrier, habitudes, skills, stats et niveaux.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FE710-7BB1-4E06-ABAA-7E07E5C0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4D"/>
                </a:solidFill>
              </a:defRPr>
            </a:pPr>
            <a:r>
              <a:rPr sz="975" b="1">
                <a:solidFill>
                  <a:srgbClr val="1F7A4D"/>
                </a:solidFill>
              </a:rPr>
              <a:t>FORCES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771CC-C799-444D-9420-7D386CA6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Très personnalisable; traduit bien l’idée “ma vie = RPG”.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D801B-BDC2-4E3A-B537-32E095A6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2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D2A2A"/>
                </a:solidFill>
              </a:defRPr>
            </a:pPr>
            <a:r>
              <a:rPr sz="975" b="1">
                <a:solidFill>
                  <a:srgbClr val="8D2A2A"/>
                </a:solidFill>
              </a:rPr>
              <a:t>FAIBLESSES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DACEA-FD3C-48E0-B9C3-3EFFE7F7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2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Peut devenir complexe; visuel moins premium; forte charge de configuration.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4A832-3ABB-4F6E-B935-374F68B7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RÉPONSE MORAX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52AB1-663F-468C-9BE7-D609DE5B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Automatiser la décomposition et garder 1-3 prochaines actions visibles.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114E15-921D-4E4C-B149-BAFBF678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48350"/>
            <a:ext cx="538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555555"/>
                </a:solidFill>
              </a:defRPr>
            </a:pPr>
            <a:r>
              <a:rPr sz="713">
                <a:solidFill>
                  <a:srgbClr val="555555"/>
                </a:solidFill>
              </a:rPr>
              <a:t>do-it-now.app/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0A900-E7A4-469B-A402-4F2F9168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C9C424-4B6A-4A4B-B786-85B438F8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62350"/>
            <a:ext cx="31213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0707"/>
                </a:solidFill>
              </a:defRPr>
            </a:pPr>
            <a:r>
              <a:rPr sz="1875" b="1">
                <a:solidFill>
                  <a:srgbClr val="070707"/>
                </a:solidFill>
              </a:rPr>
              <a:t>LifeUp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585BB9-F66E-4EA9-A00B-CD77098B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284" y="3609975"/>
            <a:ext cx="220646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Gamified to-do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CE35EE-5541-4937-A682-2E87B71D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86200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55555"/>
                </a:solidFill>
              </a:defRPr>
            </a:pPr>
            <a:r>
              <a:rPr sz="1163">
                <a:solidFill>
                  <a:srgbClr val="555555"/>
                </a:solidFill>
              </a:rPr>
              <a:t>Tâches, XP, monnaie, boutique, achievements et récompenses custom.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90CFD5-E67D-4442-B631-C2D6C49E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4D"/>
                </a:solidFill>
              </a:defRPr>
            </a:pPr>
            <a:r>
              <a:rPr sz="975" b="1">
                <a:solidFill>
                  <a:srgbClr val="1F7A4D"/>
                </a:solidFill>
              </a:rPr>
              <a:t>FORCES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1E0C4E-0582-4076-9492-D5E891AF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Système de récompenses flexible; bonne base pour utilisateurs power-user.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9D64ED-2C4F-45F3-9550-735F2C1C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D2A2A"/>
                </a:solidFill>
              </a:defRPr>
            </a:pPr>
            <a:r>
              <a:rPr sz="975" b="1">
                <a:solidFill>
                  <a:srgbClr val="8D2A2A"/>
                </a:solidFill>
              </a:rPr>
              <a:t>FAIBLESSES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8DD712-DF68-4574-8BE4-A32B1179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Moins narratif; peu de présence émotionnelle; configuration lourde.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B7F383-8D50-4BC2-8A6B-3DCEC5AF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RÉPONSE MORAX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DC9563-6F3D-4984-BFB6-3A960799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Offrir la même profondeur plus tard, mais masquer la complexité au départ.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4D7501-744D-46FE-A4F2-745E629B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848350"/>
            <a:ext cx="538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555555"/>
                </a:solidFill>
              </a:defRPr>
            </a:pPr>
            <a:r>
              <a:rPr sz="713">
                <a:solidFill>
                  <a:srgbClr val="555555"/>
                </a:solidFill>
              </a:rPr>
              <a:t>lifeup.ulives.io/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85b4e301d4110"/>
          <a:srcRect xmlns:a="http://schemas.openxmlformats.org/drawingml/2006/main" l="0" t="25835" r="0" b="25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562100"/>
            <a:ext cx="5381625" cy="1828800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145ad603744fe"/>
          <a:srcRect xmlns:a="http://schemas.openxmlformats.org/drawingml/2006/main" l="0" t="25835" r="0" b="25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562100"/>
            <a:ext cx="5381625" cy="1828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7591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504F79-8BFA-47C7-87CF-DFE7BD11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FICHES CONCURRENTES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33E2B-E193-453C-9A8E-9F0409AA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0707"/>
                </a:solidFill>
              </a:defRPr>
            </a:pPr>
            <a:r>
              <a:rPr sz="2700" b="1">
                <a:solidFill>
                  <a:srgbClr val="070707"/>
                </a:solidFill>
              </a:rPr>
              <a:t>Les quêtes doivent rester positives pour éviter la honte de l’échec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0CCA7-6801-412B-B2EB-E55AFCF8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F63A2-02B5-4C40-9EFD-92DE6389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E73F8-760A-483E-8CAA-BBA9E48A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31213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0707"/>
                </a:solidFill>
              </a:defRPr>
            </a:pPr>
            <a:r>
              <a:rPr sz="1875" b="1">
                <a:solidFill>
                  <a:srgbClr val="070707"/>
                </a:solidFill>
              </a:rPr>
              <a:t>Habit Hunter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FDABF-994F-420F-A15E-BACE5975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409" y="3609975"/>
            <a:ext cx="220646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Habit RPG adventure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D7A45-F369-46EA-AFEC-E975CFEF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86200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55555"/>
                </a:solidFill>
              </a:defRPr>
            </a:pPr>
            <a:r>
              <a:rPr sz="1163">
                <a:solidFill>
                  <a:srgbClr val="555555"/>
                </a:solidFill>
              </a:rPr>
              <a:t>Habitudes en quêtes, monstres, carte et trésors.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EF18B-3B8B-4133-AD53-E0275DD2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4D"/>
                </a:solidFill>
              </a:defRPr>
            </a:pPr>
            <a:r>
              <a:rPr sz="975" b="1">
                <a:solidFill>
                  <a:srgbClr val="1F7A4D"/>
                </a:solidFill>
              </a:rPr>
              <a:t>FORCES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C40B4-0552-44AE-A69F-AD2D2A1F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Métaphore RPG immédiate; map et combats donnent du relief aux habitudes.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02504-BE3C-46C6-A4BF-1F79FA1B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2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D2A2A"/>
                </a:solidFill>
              </a:defRPr>
            </a:pPr>
            <a:r>
              <a:rPr sz="975" b="1">
                <a:solidFill>
                  <a:srgbClr val="8D2A2A"/>
                </a:solidFill>
              </a:rPr>
              <a:t>FAIBLESSES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E50D9-A6C6-47F1-A46C-F7F0060C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2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Boucle souvent extrinsèque; pas de preuve réelle; niche très fantasy.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8CBD01-77C0-4029-833C-16A2976A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RÉPONSE MORAX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1F08B-539D-45C3-B943-B0B1D975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Adopter la clarté des quêtes, sans enfermer Morax dans un fantasy cartoon.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368CC3-DC70-4F73-978E-DA711831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48350"/>
            <a:ext cx="538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555555"/>
                </a:solidFill>
              </a:defRPr>
            </a:pPr>
            <a:r>
              <a:rPr sz="713">
                <a:solidFill>
                  <a:srgbClr val="555555"/>
                </a:solidFill>
              </a:rPr>
              <a:t>habithunter.activeuser.co/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C7BF9-CA55-41E0-9B90-2EDECEF9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C64D47-129D-423F-9669-EBB47F3F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62350"/>
            <a:ext cx="31213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0707"/>
                </a:solidFill>
              </a:defRPr>
            </a:pPr>
            <a:r>
              <a:rPr sz="1875" b="1">
                <a:solidFill>
                  <a:srgbClr val="070707"/>
                </a:solidFill>
              </a:rPr>
              <a:t>SuperBetter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091107-040F-4B5E-A317-7F85BB2F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284" y="3609975"/>
            <a:ext cx="220646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Gameful resilience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013294-877B-4905-BA8F-EEF00F3A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86200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55555"/>
                </a:solidFill>
              </a:defRPr>
            </a:pPr>
            <a:r>
              <a:rPr sz="1163">
                <a:solidFill>
                  <a:srgbClr val="555555"/>
                </a:solidFill>
              </a:rPr>
              <a:t>Quêtes, power-ups, epic wins, résilience et mental wellbeing.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5C937D-3BED-4772-B15D-340B5AB1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4D"/>
                </a:solidFill>
              </a:defRPr>
            </a:pPr>
            <a:r>
              <a:rPr sz="975" b="1">
                <a:solidFill>
                  <a:srgbClr val="1F7A4D"/>
                </a:solidFill>
              </a:rPr>
              <a:t>FORCES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7AFDCF-0236-454A-80CE-2F715B25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Fondation psychologique forte; langage positif; crédibilité historique.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F589A9-1721-401E-A015-DA818F5F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D2A2A"/>
                </a:solidFill>
              </a:defRPr>
            </a:pPr>
            <a:r>
              <a:rPr sz="975" b="1">
                <a:solidFill>
                  <a:srgbClr val="8D2A2A"/>
                </a:solidFill>
              </a:rPr>
              <a:t>FAIBLESSES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CE545F-1705-4D75-943F-72051D8B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Moins visuel; moins productivité quotidienne; cible wellbeing/éducation.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A721CD-95FD-4464-B1A0-99AC8931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RÉPONSE MORAX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431A33-81C7-4B83-9163-EB234A2B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Garder la prudence santé mentale : motivation, pas promesse médicale.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81E44D-0367-4A32-A942-047A0315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848350"/>
            <a:ext cx="538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555555"/>
                </a:solidFill>
              </a:defRPr>
            </a:pPr>
            <a:r>
              <a:rPr sz="713">
                <a:solidFill>
                  <a:srgbClr val="555555"/>
                </a:solidFill>
              </a:rPr>
              <a:t>superbetter.com/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89b11d93e4717"/>
          <a:srcRect xmlns:a="http://schemas.openxmlformats.org/drawingml/2006/main" l="0" t="25835" r="0" b="25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562100"/>
            <a:ext cx="5381625" cy="1828800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d78c85bb9478e"/>
          <a:srcRect xmlns:a="http://schemas.openxmlformats.org/drawingml/2006/main" l="0" t="25835" r="0" b="25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562100"/>
            <a:ext cx="5381625" cy="1828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3187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19FE6D-EE5C-4589-ACE5-BD146F9B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FICHES CONCURRENTES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AA67C-F8F2-4D7A-AA7B-A49CAF47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0707"/>
                </a:solidFill>
              </a:defRPr>
            </a:pPr>
            <a:r>
              <a:rPr sz="2700" b="1">
                <a:solidFill>
                  <a:srgbClr val="070707"/>
                </a:solidFill>
              </a:rPr>
              <a:t>Les timers iconiques gagnent par métaphore ultra simple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00170-51F1-403F-818E-69642A78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BD17A-74B1-4299-82EA-55642191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DD276-FBB8-40C6-B62B-039B953C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31213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0707"/>
                </a:solidFill>
              </a:defRPr>
            </a:pPr>
            <a:r>
              <a:rPr sz="1875" b="1">
                <a:solidFill>
                  <a:srgbClr val="070707"/>
                </a:solidFill>
              </a:rPr>
              <a:t>Forest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52234-2654-4ECB-B6C4-2C06A7E0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409" y="3609975"/>
            <a:ext cx="220646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Focus timer iconique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6861D-EB0A-4F05-9685-515B1D3B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86200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55555"/>
                </a:solidFill>
              </a:defRPr>
            </a:pPr>
            <a:r>
              <a:rPr sz="1163">
                <a:solidFill>
                  <a:srgbClr val="555555"/>
                </a:solidFill>
              </a:rPr>
              <a:t>Chaque session plante un arbre; forêt, blocage distractions, statistiques.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25A7B-1CC7-4C82-B8C7-82B1E3BB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4D"/>
                </a:solidFill>
              </a:defRPr>
            </a:pPr>
            <a:r>
              <a:rPr sz="975" b="1">
                <a:solidFill>
                  <a:srgbClr val="1F7A4D"/>
                </a:solidFill>
              </a:rPr>
              <a:t>FORCES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FD2DF-5C73-49F6-9249-92EE35DD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Métaphore ultra simple; belle lisibilité; forte notoriété.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CE6BF5-1843-435E-9958-53E34614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2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D2A2A"/>
                </a:solidFill>
              </a:defRPr>
            </a:pPr>
            <a:r>
              <a:rPr sz="975" b="1">
                <a:solidFill>
                  <a:srgbClr val="8D2A2A"/>
                </a:solidFill>
              </a:rPr>
              <a:t>FAIBLESSES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55649-05BA-4941-9D24-EE1FFF53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2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Punition visuelle possible; pas d’avatar ni de vraie planification.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C5886-1D3E-44C8-863F-E6E781C1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RÉPONSE MORAX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749D1D-CDF6-4450-A779-6B6B5373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Reprendre la clarté du rituel, sans “tuer” le progrès en cas d’échec.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1C5B73-5611-4303-8285-17B85D56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48350"/>
            <a:ext cx="538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555555"/>
                </a:solidFill>
              </a:defRPr>
            </a:pPr>
            <a:r>
              <a:rPr sz="713">
                <a:solidFill>
                  <a:srgbClr val="555555"/>
                </a:solidFill>
              </a:rPr>
              <a:t>forestapp.cc/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1726DA-D424-4147-AA85-E6C6F250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AC62E-6366-49F2-A7DD-6FCA578B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62350"/>
            <a:ext cx="31213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0707"/>
                </a:solidFill>
              </a:defRPr>
            </a:pPr>
            <a:r>
              <a:rPr sz="1875" b="1">
                <a:solidFill>
                  <a:srgbClr val="070707"/>
                </a:solidFill>
              </a:rPr>
              <a:t>Flora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D1C61-B433-4F6D-B075-9DD452FD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284" y="3609975"/>
            <a:ext cx="220646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Green focus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AB83A8-CB47-429E-92D8-FAB26680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86200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55555"/>
                </a:solidFill>
              </a:defRPr>
            </a:pPr>
            <a:r>
              <a:rPr sz="1163">
                <a:solidFill>
                  <a:srgbClr val="555555"/>
                </a:solidFill>
              </a:rPr>
              <a:t>Focus timer avec arbres, to-dos, habitudes et extension navigateur.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737ED5-23B5-4854-9C0E-DCA7BEF6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4D"/>
                </a:solidFill>
              </a:defRPr>
            </a:pPr>
            <a:r>
              <a:rPr sz="975" b="1">
                <a:solidFill>
                  <a:srgbClr val="1F7A4D"/>
                </a:solidFill>
              </a:rPr>
              <a:t>FORCES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E6D17C-EE38-40B9-B307-0A37D0DC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Visuel clair; extension desktop; croissance végétale facile à comprendre.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E34DDD-B32A-4F4A-AC24-F3718E0A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D2A2A"/>
                </a:solidFill>
              </a:defRPr>
            </a:pPr>
            <a:r>
              <a:rPr sz="975" b="1">
                <a:solidFill>
                  <a:srgbClr val="8D2A2A"/>
                </a:solidFill>
              </a:rPr>
              <a:t>FAIBLESSES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0C1FC2-FBD1-4F49-B0D5-2D14E416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Très proche de Forest; différenciation limitée; pas Life RPG.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C4E19A-C668-412A-8EFD-3BA3B42D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RÉPONSE MORAX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4B3E19-9F32-4377-9873-4DA79496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Créer une boucle plus personnelle que l’arbre : l’avatar vit la quête avec l’utilisateur.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19A975-3BAC-4781-874D-84B58551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848350"/>
            <a:ext cx="538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555555"/>
                </a:solidFill>
              </a:defRPr>
            </a:pPr>
            <a:r>
              <a:rPr sz="713">
                <a:solidFill>
                  <a:srgbClr val="555555"/>
                </a:solidFill>
              </a:rPr>
              <a:t>flora.appfinca.com/en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162a462cb4f00"/>
          <a:srcRect xmlns:a="http://schemas.openxmlformats.org/drawingml/2006/main" l="0" t="25835" r="0" b="25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562100"/>
            <a:ext cx="5381625" cy="1828800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d85dc226a4fe8"/>
          <a:srcRect xmlns:a="http://schemas.openxmlformats.org/drawingml/2006/main" l="0" t="25835" r="0" b="25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562100"/>
            <a:ext cx="5381625" cy="1828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01349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93D86E-B6C6-46AB-8F28-2B50CD38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FICHES CONCURRENTES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0FE24-DC57-42A3-B5B7-2CDCEBF9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0707"/>
                </a:solidFill>
              </a:defRPr>
            </a:pPr>
            <a:r>
              <a:rPr sz="2700" b="1">
                <a:solidFill>
                  <a:srgbClr val="070707"/>
                </a:solidFill>
              </a:rPr>
              <a:t>Les pets prouvent l’attachement, mais Morax doit rester adulte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6C2E1-083E-4D94-9A32-3DB1684B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ECC05-41D3-4E4A-804E-8AC5E1AC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A6E77-247B-4681-A58E-F8FF3117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31213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0707"/>
                </a:solidFill>
              </a:defRPr>
            </a:pPr>
            <a:r>
              <a:rPr sz="1875" b="1">
                <a:solidFill>
                  <a:srgbClr val="070707"/>
                </a:solidFill>
              </a:rPr>
              <a:t>Study Bunny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8C00E-5155-46E4-BFB6-81BE5A13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409" y="3609975"/>
            <a:ext cx="220646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Study pet timer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2AAA4-3BE9-4E32-A524-16F0EE1C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86200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55555"/>
                </a:solidFill>
              </a:defRPr>
            </a:pPr>
            <a:r>
              <a:rPr sz="1163">
                <a:solidFill>
                  <a:srgbClr val="555555"/>
                </a:solidFill>
              </a:rPr>
              <a:t>Lapin, timer d’étude, coins, boutique, musique et outils étudiants.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8EFDB-8775-4251-9EB0-B63B11BD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4D"/>
                </a:solidFill>
              </a:defRPr>
            </a:pPr>
            <a:r>
              <a:rPr sz="975" b="1">
                <a:solidFill>
                  <a:srgbClr val="1F7A4D"/>
                </a:solidFill>
              </a:rPr>
              <a:t>FORCES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5CF4A-8C69-40D3-AE5C-F62AEC09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Très attachant; économie simple; cible étude claire.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40C6F-792A-4996-89A4-4D1F85FC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2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D2A2A"/>
                </a:solidFill>
              </a:defRPr>
            </a:pPr>
            <a:r>
              <a:rPr sz="975" b="1">
                <a:solidFill>
                  <a:srgbClr val="8D2A2A"/>
                </a:solidFill>
              </a:rPr>
              <a:t>FAIBLESSES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8D121-A886-4C8B-8D4B-45A80855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2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Look très enfantin; moins adapté adultes/professionnels ADHD.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ED2AD6-6247-4995-8979-D5E081B8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RÉPONSE MORAX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43A101-2C0A-4163-A4C0-970FA397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Garder l’attachement, avec une DA adulte, premium et moins scolaire.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EAC62-34D0-4D24-A8A4-8593A9C4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48350"/>
            <a:ext cx="538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555555"/>
                </a:solidFill>
              </a:defRPr>
            </a:pPr>
            <a:r>
              <a:rPr sz="713">
                <a:solidFill>
                  <a:srgbClr val="555555"/>
                </a:solidFill>
              </a:rPr>
              <a:t>www.superbyte.site/studybunny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1F824E-27AC-492F-97CB-23A3C495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4481C-7E83-4EB1-A3D8-36D0808E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62350"/>
            <a:ext cx="31213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0707"/>
                </a:solidFill>
              </a:defRPr>
            </a:pPr>
            <a:r>
              <a:rPr sz="1875" b="1">
                <a:solidFill>
                  <a:srgbClr val="070707"/>
                </a:solidFill>
              </a:rPr>
              <a:t>Focus Dog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0A4530-27E5-4A63-A165-90FF3881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284" y="3609975"/>
            <a:ext cx="220646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Pomodoro pet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CAD7CF-D581-4A65-B002-2CFCD534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86200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55555"/>
                </a:solidFill>
              </a:defRPr>
            </a:pPr>
            <a:r>
              <a:rPr sz="1163">
                <a:solidFill>
                  <a:srgbClr val="555555"/>
                </a:solidFill>
              </a:rPr>
              <a:t>Sessions focus qui nourrissent un chien virtuel et débloquent tenues.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BD5141-E0EC-48A7-905F-C7FEFC94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4D"/>
                </a:solidFill>
              </a:defRPr>
            </a:pPr>
            <a:r>
              <a:rPr sz="975" b="1">
                <a:solidFill>
                  <a:srgbClr val="1F7A4D"/>
                </a:solidFill>
              </a:rPr>
              <a:t>FORCES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714004-CD28-49DD-AF8A-54C7ABCF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Lien émotionnel fort; récompense concrète; positionnement ADHD explicite.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607F1C-21F9-4743-898D-BD080F66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D2A2A"/>
                </a:solidFill>
              </a:defRPr>
            </a:pPr>
            <a:r>
              <a:rPr sz="975" b="1">
                <a:solidFill>
                  <a:srgbClr val="8D2A2A"/>
                </a:solidFill>
              </a:rPr>
              <a:t>FAIBLESSES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000718-4AAF-481E-9075-5363F0F3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Peut basculer en culpabilité; scope limité au digital detox.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65B862-C89D-4D6F-879E-FE46F87F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RÉPONSE MORAX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982EB0-0109-4564-9EB6-A3E0050E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Faire du compagnon un reflet encourageant de l’utilisateur, pas un animal à nourrir.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782F6E-7DBC-48A0-8442-0B81B95D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848350"/>
            <a:ext cx="538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555555"/>
                </a:solidFill>
              </a:defRPr>
            </a:pPr>
            <a:r>
              <a:rPr sz="713">
                <a:solidFill>
                  <a:srgbClr val="555555"/>
                </a:solidFill>
              </a:rPr>
              <a:t>focusdog.app/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ce5ae89f842d9"/>
          <a:srcRect xmlns:a="http://schemas.openxmlformats.org/drawingml/2006/main" l="0" t="25835" r="0" b="25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562100"/>
            <a:ext cx="5381625" cy="1828800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f4b3bc2e84119"/>
          <a:srcRect xmlns:a="http://schemas.openxmlformats.org/drawingml/2006/main" l="0" t="25835" r="0" b="25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562100"/>
            <a:ext cx="5381625" cy="1828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67967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ADD22D-E486-4AD9-8B04-67E9F0E9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FICHES CONCURRENTES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FBF20-DAA8-4B06-9EC7-FFEDAE83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0707"/>
                </a:solidFill>
              </a:defRPr>
            </a:pPr>
            <a:r>
              <a:rPr sz="2700" b="1">
                <a:solidFill>
                  <a:srgbClr val="070707"/>
                </a:solidFill>
              </a:rPr>
              <a:t>La chambre et l’ambiance sont des récompenses compréhensibles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29C06-54CF-41A4-969A-B962E28B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EC2DA-A8EE-4B52-8F44-6F035B5D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15FF1-ACD1-4053-8AB0-47382F5F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31213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0707"/>
                </a:solidFill>
              </a:defRPr>
            </a:pPr>
            <a:r>
              <a:rPr sz="1875" b="1">
                <a:solidFill>
                  <a:srgbClr val="070707"/>
                </a:solidFill>
              </a:rPr>
              <a:t>PuppyFocus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B10EB-46AB-43CA-ACEF-038CEA9B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409" y="3609975"/>
            <a:ext cx="220646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Pet + app blocker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FA24B-1240-42CA-8546-3A7F9960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86200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55555"/>
                </a:solidFill>
              </a:defRPr>
            </a:pPr>
            <a:r>
              <a:rPr sz="1163">
                <a:solidFill>
                  <a:srgbClr val="555555"/>
                </a:solidFill>
              </a:rPr>
              <a:t>Pomodoro, pet companion, chambre, app blocker iOS.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EDB7B-7915-4C30-9A6E-D74BE0FA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4D"/>
                </a:solidFill>
              </a:defRPr>
            </a:pPr>
            <a:r>
              <a:rPr sz="975" b="1">
                <a:solidFill>
                  <a:srgbClr val="1F7A4D"/>
                </a:solidFill>
              </a:rPr>
              <a:t>FORCES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764662-D6EB-49C0-B752-D9B53EB9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Promesse claire “deep work to visual rewards”; forte boucle pet-room.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39E184-3BD9-4526-8076-8D330A77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2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D2A2A"/>
                </a:solidFill>
              </a:defRPr>
            </a:pPr>
            <a:r>
              <a:rPr sz="975" b="1">
                <a:solidFill>
                  <a:srgbClr val="8D2A2A"/>
                </a:solidFill>
              </a:rPr>
              <a:t>FAIBLESSES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173EF-E980-45F8-8B2E-5C8435A4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2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Encore très pet/timer; peu d’identité Life RPG.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2EFBF9-5BBB-4353-8C79-105CCAE6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RÉPONSE MORAX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DF1FA4-8F55-40E7-A9AD-0285915D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Transformer la chambre/récompense en base d’avatar RPG et scènes de vie.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9E4AFE-DD3E-45C4-9773-E965B462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48350"/>
            <a:ext cx="538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555555"/>
                </a:solidFill>
              </a:defRPr>
            </a:pPr>
            <a:r>
              <a:rPr sz="713">
                <a:solidFill>
                  <a:srgbClr val="555555"/>
                </a:solidFill>
              </a:rPr>
              <a:t>puppyfocusapp.com/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1B9BED-48B5-41BC-84C0-8A96AE2B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E415A1-B357-4825-885B-47258F87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62350"/>
            <a:ext cx="31213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0707"/>
                </a:solidFill>
              </a:defRPr>
            </a:pPr>
            <a:r>
              <a:rPr sz="1875" b="1">
                <a:solidFill>
                  <a:srgbClr val="070707"/>
                </a:solidFill>
              </a:rPr>
              <a:t>Virtual Cottage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F0E3EC-508E-4158-BE52-ADDC48C5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284" y="3609975"/>
            <a:ext cx="220646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Cozy lofi timer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E7023-F026-44A8-9738-9EBA6714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86200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55555"/>
                </a:solidFill>
              </a:defRPr>
            </a:pPr>
            <a:r>
              <a:rPr sz="1163">
                <a:solidFill>
                  <a:srgbClr val="555555"/>
                </a:solidFill>
              </a:rPr>
              <a:t>Cottage, météo, lofi, timer et ambiance second-screen.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C9355A-612A-41CB-A42B-1C5C7FA3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4D"/>
                </a:solidFill>
              </a:defRPr>
            </a:pPr>
            <a:r>
              <a:rPr sz="975" b="1">
                <a:solidFill>
                  <a:srgbClr val="1F7A4D"/>
                </a:solidFill>
              </a:rPr>
              <a:t>FORCES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2C1431-C499-4C42-A250-52FAB348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Très léger; presque zéro charge cognitive; bon mood productif.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F10C92-1732-43C8-B07F-A16D1826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D2A2A"/>
                </a:solidFill>
              </a:defRPr>
            </a:pPr>
            <a:r>
              <a:rPr sz="975" b="1">
                <a:solidFill>
                  <a:srgbClr val="8D2A2A"/>
                </a:solidFill>
              </a:rPr>
              <a:t>FAIBLESSES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C3FCC8-D3BE-4C2C-8888-D3B57422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Peu de mécanique; pas de mobile-first ni progression personnalisée.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578842-891B-429F-B702-1CF86AF7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RÉPONSE MORAX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BE437E-144C-4884-92C1-395EFED3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Offrir un mode calme équivalent dans la Station Focus, mais relié aux quêtes.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48AFAD-8BFF-493A-9DDC-CCAC22F7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848350"/>
            <a:ext cx="538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555555"/>
                </a:solidFill>
              </a:defRPr>
            </a:pPr>
            <a:r>
              <a:rPr sz="713">
                <a:solidFill>
                  <a:srgbClr val="555555"/>
                </a:solidFill>
              </a:rPr>
              <a:t>store.steampowered.com/app/1369320/Virtual_Cottage/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782b816e354d9f"/>
          <a:srcRect xmlns:a="http://schemas.openxmlformats.org/drawingml/2006/main" l="0" t="25835" r="0" b="25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562100"/>
            <a:ext cx="5381625" cy="1828800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01b8772fa4d30"/>
          <a:srcRect xmlns:a="http://schemas.openxmlformats.org/drawingml/2006/main" l="0" t="25835" r="0" b="25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562100"/>
            <a:ext cx="5381625" cy="1828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2398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426EC2-9481-4EA4-BF93-B78695B1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FICHES CONCURRENTES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B0DF5-5273-4B5B-9E16-80379CD1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0707"/>
                </a:solidFill>
              </a:defRPr>
            </a:pPr>
            <a:r>
              <a:rPr sz="2700" b="1">
                <a:solidFill>
                  <a:srgbClr val="070707"/>
                </a:solidFill>
              </a:rPr>
              <a:t>Le self-care doux est puissant quand il ne punit pas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FE10A-337D-45BA-ABD7-3E65F541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57F72-6B19-45ED-AFB5-91BB3C65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C7057-110C-4988-AD35-245ACC4A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31213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0707"/>
                </a:solidFill>
              </a:defRPr>
            </a:pPr>
            <a:r>
              <a:rPr sz="1875" b="1">
                <a:solidFill>
                  <a:srgbClr val="070707"/>
                </a:solidFill>
              </a:rPr>
              <a:t>Finch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4A590-C17C-4DB1-8A38-725E9339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409" y="3609975"/>
            <a:ext cx="220646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Self-care pet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9A5FB-C6A3-4216-8504-A10143BD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86200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55555"/>
                </a:solidFill>
              </a:defRPr>
            </a:pPr>
            <a:r>
              <a:rPr sz="1163">
                <a:solidFill>
                  <a:srgbClr val="555555"/>
                </a:solidFill>
              </a:rPr>
              <a:t>Pet de self-care, exercices, objectifs doux et personnalisation.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C2979-2701-4799-8D4D-969D3A17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4D"/>
                </a:solidFill>
              </a:defRPr>
            </a:pPr>
            <a:r>
              <a:rPr sz="975" b="1">
                <a:solidFill>
                  <a:srgbClr val="1F7A4D"/>
                </a:solidFill>
              </a:rPr>
              <a:t>FORCES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0F3CF-3261-4A8F-A802-085C6942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Rétention émotionnelle forte; ton bienveillant; excellente accessibilité.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88B87-AF8B-43BC-B54A-6F60B6D9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2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D2A2A"/>
                </a:solidFill>
              </a:defRPr>
            </a:pPr>
            <a:r>
              <a:rPr sz="975" b="1">
                <a:solidFill>
                  <a:srgbClr val="8D2A2A"/>
                </a:solidFill>
              </a:rPr>
              <a:t>FAIBLESSES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BB173-E962-4D9B-80EF-3766BDDD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2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Compagnon non ressemblant; self-care plus que productivité/quête IRL.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CAB153-A2E8-4B5E-BB62-CA214903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RÉPONSE MORAX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6D403-79D0-41FF-8DD2-667EB7A7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Adopter la douceur, mais avec avatar utilisateur 3D et objectifs concrets.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210E8-C14A-46D3-9203-796AF865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48350"/>
            <a:ext cx="538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555555"/>
                </a:solidFill>
              </a:defRPr>
            </a:pPr>
            <a:r>
              <a:rPr sz="713">
                <a:solidFill>
                  <a:srgbClr val="555555"/>
                </a:solidFill>
              </a:rPr>
              <a:t>finchcare.com/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3F3624-5920-4BA8-A5D1-BD4970C7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A60ED5-A3DF-4DA1-A858-5DD853E6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62350"/>
            <a:ext cx="31213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0707"/>
                </a:solidFill>
              </a:defRPr>
            </a:pPr>
            <a:r>
              <a:rPr sz="1875" b="1">
                <a:solidFill>
                  <a:srgbClr val="070707"/>
                </a:solidFill>
              </a:rPr>
              <a:t>Avocation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4D6560-1299-4159-88C4-D055F0DA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284" y="3609975"/>
            <a:ext cx="220646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Gentle habit growth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611710-3F48-4BF7-979A-FC0C40F0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86200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55555"/>
                </a:solidFill>
              </a:defRPr>
            </a:pPr>
            <a:r>
              <a:rPr sz="1163">
                <a:solidFill>
                  <a:srgbClr val="555555"/>
                </a:solidFill>
              </a:rPr>
              <a:t>Habit tracker simple, plantes, leçons et absence de streak punitive.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D4DDA5-0D41-4EE9-A166-B4D13A3D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4D"/>
                </a:solidFill>
              </a:defRPr>
            </a:pPr>
            <a:r>
              <a:rPr sz="975" b="1">
                <a:solidFill>
                  <a:srgbClr val="1F7A4D"/>
                </a:solidFill>
              </a:rPr>
              <a:t>FORCES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523804-28FD-44B8-A9A5-441BC3DC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Très bon modèle non culpabilisant; simplicité visuelle.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1FA0B4-2247-404E-A855-216B1927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D2A2A"/>
                </a:solidFill>
              </a:defRPr>
            </a:pPr>
            <a:r>
              <a:rPr sz="975" b="1">
                <a:solidFill>
                  <a:srgbClr val="8D2A2A"/>
                </a:solidFill>
              </a:rPr>
              <a:t>FAIBLESSES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23988C-F788-4D7E-A24B-2BD9EDD7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Faible profondeur RPG; peu d’automatisation; visuel moins immersif.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3EDB48-0B36-47CC-9C13-67F06B90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RÉPONSE MORAX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DAD9CF-A0EC-41A5-9709-6BFA0926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Conserver le principe “bad day safe” dans toute la progression.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6AF338-CD6C-402A-A932-370A8EE8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848350"/>
            <a:ext cx="538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555555"/>
                </a:solidFill>
              </a:defRPr>
            </a:pPr>
            <a:r>
              <a:rPr sz="713">
                <a:solidFill>
                  <a:srgbClr val="555555"/>
                </a:solidFill>
              </a:rPr>
              <a:t>avocation.app/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1accb4aa934a33"/>
          <a:srcRect xmlns:a="http://schemas.openxmlformats.org/drawingml/2006/main" l="0" t="25835" r="0" b="25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562100"/>
            <a:ext cx="5381625" cy="1828800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f70d2ed2e4ad9"/>
          <a:srcRect xmlns:a="http://schemas.openxmlformats.org/drawingml/2006/main" l="0" t="25835" r="0" b="25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562100"/>
            <a:ext cx="5381625" cy="1828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7672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8BE5CE-FFB0-424F-85D1-47F2C567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FICHES CONCURRENTES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96530-8869-444F-907C-982C9C96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0707"/>
                </a:solidFill>
              </a:defRPr>
            </a:pPr>
            <a:r>
              <a:rPr sz="2700" b="1">
                <a:solidFill>
                  <a:srgbClr val="070707"/>
                </a:solidFill>
              </a:rPr>
              <a:t>Les apps ADHD gagnent quand elles retirent des décisions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BD9CA-4520-42D1-A811-F377141B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7851C-0862-4D07-9AD2-E1400471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48E69-BC50-45E1-8953-7AE6F8EF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31213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0707"/>
                </a:solidFill>
              </a:defRPr>
            </a:pPr>
            <a:r>
              <a:rPr sz="1875" b="1">
                <a:solidFill>
                  <a:srgbClr val="070707"/>
                </a:solidFill>
              </a:rPr>
              <a:t>Habitomic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D83EE-46CA-4C15-AB83-F0EEF861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409" y="3609975"/>
            <a:ext cx="220646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ADHD planner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572A1-E15B-4E73-B151-3BBD8B10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86200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55555"/>
                </a:solidFill>
              </a:defRPr>
            </a:pPr>
            <a:r>
              <a:rPr sz="1163">
                <a:solidFill>
                  <a:srgbClr val="555555"/>
                </a:solidFill>
              </a:rPr>
              <a:t>Planner, routine, focus, tâches et self-care pour ADHD.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177CA-2EF9-43E0-A4C2-D40EDD4B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4D"/>
                </a:solidFill>
              </a:defRPr>
            </a:pPr>
            <a:r>
              <a:rPr sz="975" b="1">
                <a:solidFill>
                  <a:srgbClr val="1F7A4D"/>
                </a:solidFill>
              </a:rPr>
              <a:t>FORCES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F0929-9B85-4BD1-B56E-B7BD059A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Positionnement ADHD direct; couvre routines, focus et organisation.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CA727-D426-4FD9-AD81-C2C69A38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2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D2A2A"/>
                </a:solidFill>
              </a:defRPr>
            </a:pPr>
            <a:r>
              <a:rPr sz="975" b="1">
                <a:solidFill>
                  <a:srgbClr val="8D2A2A"/>
                </a:solidFill>
              </a:rPr>
              <a:t>FAIBLESSES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A53D3-EA2D-4689-BC13-F7F3071E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2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Visuel plus utilitaire; moins différenciant côté game feel.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44C558-771B-4A07-9663-085DAA0E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RÉPONSE MORAX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275EA5-223A-47DA-B4F9-E95D684B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Prendre l’ADHD comme principe UX, pas seulement comme argument marketing.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FAAD13-0986-47E6-9771-0EBD10FE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48350"/>
            <a:ext cx="538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555555"/>
                </a:solidFill>
              </a:defRPr>
            </a:pPr>
            <a:r>
              <a:rPr sz="713">
                <a:solidFill>
                  <a:srgbClr val="555555"/>
                </a:solidFill>
              </a:rPr>
              <a:t>apps.apple.com/us/app/habitomic-adhd-friendly-habits/id1609261995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DC8AD-4DFC-4274-AD7A-AF2974D6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31D435-BD79-4CD7-A6A5-C5F2E3DD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62350"/>
            <a:ext cx="31213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0707"/>
                </a:solidFill>
              </a:defRPr>
            </a:pPr>
            <a:r>
              <a:rPr sz="1875" b="1">
                <a:solidFill>
                  <a:srgbClr val="070707"/>
                </a:solidFill>
              </a:rPr>
              <a:t>Amazing Marvin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2B0358-DCC9-4E44-A1CB-AD9D45E8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284" y="3609975"/>
            <a:ext cx="220646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ADHD task 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AFFCCE-F603-454C-82BD-3CB256E8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86200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55555"/>
                </a:solidFill>
              </a:defRPr>
            </a:pPr>
            <a:r>
              <a:rPr sz="1163">
                <a:solidFill>
                  <a:srgbClr val="555555"/>
                </a:solidFill>
              </a:rPr>
              <a:t>Task manager très configurable pour procrastination et ADHD.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7C0B54-FC12-4986-A5D4-8467EF8C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4D"/>
                </a:solidFill>
              </a:defRPr>
            </a:pPr>
            <a:r>
              <a:rPr sz="975" b="1">
                <a:solidFill>
                  <a:srgbClr val="1F7A4D"/>
                </a:solidFill>
              </a:rPr>
              <a:t>FORCES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A8B78B-AA7F-4B79-B67B-F95AA7AA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Profondeur énorme; stratégies multiples; adapté aux power users.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EDD27F-9387-429B-AC1C-083C4653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D2A2A"/>
                </a:solidFill>
              </a:defRPr>
            </a:pPr>
            <a:r>
              <a:rPr sz="975" b="1">
                <a:solidFill>
                  <a:srgbClr val="8D2A2A"/>
                </a:solidFill>
              </a:rPr>
              <a:t>FAIBLESSES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1BBE4A-A454-4AC7-A00C-0A505205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Courbe d’apprentissage élevée; surcharge possible pour ADHD.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987F5D-5CF9-4E32-AB55-2FEEC8F2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RÉPONSE MORAX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BE9049-41C4-4D1B-9594-702DF502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Faire l’inverse en V1 : peu de choix, puis profondeur progressive.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234C95-2553-4133-B947-4999F196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848350"/>
            <a:ext cx="538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555555"/>
                </a:solidFill>
              </a:defRPr>
            </a:pPr>
            <a:r>
              <a:rPr sz="713">
                <a:solidFill>
                  <a:srgbClr val="555555"/>
                </a:solidFill>
              </a:rPr>
              <a:t>amazingmarvin.com/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1535d5c0d74560"/>
          <a:srcRect xmlns:a="http://schemas.openxmlformats.org/drawingml/2006/main" l="0" t="25835" r="0" b="25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562100"/>
            <a:ext cx="5381625" cy="1828800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abc6e4cf6948a6"/>
          <a:srcRect xmlns:a="http://schemas.openxmlformats.org/drawingml/2006/main" l="0" t="25835" r="0" b="25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562100"/>
            <a:ext cx="5381625" cy="1828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11347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4A5F15-BBDD-4690-AF30-DA450CF3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FICHES CONCURRENTES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D913C-44CF-46BC-B5D1-28C7F964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0707"/>
                </a:solidFill>
              </a:defRPr>
            </a:pPr>
            <a:r>
              <a:rPr sz="2700" b="1">
                <a:solidFill>
                  <a:srgbClr val="070707"/>
                </a:solidFill>
              </a:rPr>
              <a:t>La productivité mature manque souvent d’un moteur émotionnel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7B70F8-B396-40ED-B1DA-8400F6E0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4F287-ECD3-480C-8B38-C0BCB24B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2FA43-B6A0-467D-93BC-8E65F54B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31213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0707"/>
                </a:solidFill>
              </a:defRPr>
            </a:pPr>
            <a:r>
              <a:rPr sz="1875" b="1">
                <a:solidFill>
                  <a:srgbClr val="070707"/>
                </a:solidFill>
              </a:rPr>
              <a:t>Lunatask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A4F4A-83AE-4802-B4D9-C259D671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409" y="3609975"/>
            <a:ext cx="220646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Neurodivergent productivity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5789E-8C74-4139-B985-498D3B3F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86200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55555"/>
                </a:solidFill>
              </a:defRPr>
            </a:pPr>
            <a:r>
              <a:rPr sz="1163">
                <a:solidFill>
                  <a:srgbClr val="555555"/>
                </a:solidFill>
              </a:rPr>
              <a:t>To-do, habits, notes, journal, life tracking et chiffrement.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53984A-54F8-4C6B-998C-141D4F44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4D"/>
                </a:solidFill>
              </a:defRPr>
            </a:pPr>
            <a:r>
              <a:rPr sz="975" b="1">
                <a:solidFill>
                  <a:srgbClr val="1F7A4D"/>
                </a:solidFill>
              </a:rPr>
              <a:t>FORCES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AF92A-3073-429A-90B5-D0B97205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Ton mature; tout-en-un; confidentialité et neurodivergence crédibles.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24D12-2E60-4CFD-9DEE-5E888815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2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D2A2A"/>
                </a:solidFill>
              </a:defRPr>
            </a:pPr>
            <a:r>
              <a:rPr sz="975" b="1">
                <a:solidFill>
                  <a:srgbClr val="8D2A2A"/>
                </a:solidFill>
              </a:rPr>
              <a:t>FAIBLESSES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778F8-2057-4B03-B60B-6BE31BAD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2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Moins ludique; pas de compagnon visuel; pas de preuve photo/voix.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9E6A99-C160-40DA-BE43-3392EC56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RÉPONSE MORAX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A3910-3184-44A2-8B1C-FD99D57B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Garder la maturité et la privacy, ajouter présence et motivation RPG.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FBF843-7761-40AE-B42F-6431D29B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48350"/>
            <a:ext cx="538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555555"/>
                </a:solidFill>
              </a:defRPr>
            </a:pPr>
            <a:r>
              <a:rPr sz="713">
                <a:solidFill>
                  <a:srgbClr val="555555"/>
                </a:solidFill>
              </a:rPr>
              <a:t>lunatask.app/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5E659-A88C-46A1-BAAC-3A1EC412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0616C8-6BFB-48BA-946E-BC189F32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62350"/>
            <a:ext cx="31213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0707"/>
                </a:solidFill>
              </a:defRPr>
            </a:pPr>
            <a:r>
              <a:rPr sz="1875" b="1">
                <a:solidFill>
                  <a:srgbClr val="070707"/>
                </a:solidFill>
              </a:rPr>
              <a:t>Routinery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30FC42-CF6F-4FC3-B159-EBE5EF24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284" y="3609975"/>
            <a:ext cx="220646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Routine guide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DCE196-F83D-403C-84C9-4265CE6E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86200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55555"/>
                </a:solidFill>
              </a:defRPr>
            </a:pPr>
            <a:r>
              <a:rPr sz="1163">
                <a:solidFill>
                  <a:srgbClr val="555555"/>
                </a:solidFill>
              </a:rPr>
              <a:t>Routines guidées étape par étape, timers et notifications.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ED53DD-B6E2-4B3A-99E0-E73013AE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4D"/>
                </a:solidFill>
              </a:defRPr>
            </a:pPr>
            <a:r>
              <a:rPr sz="975" b="1">
                <a:solidFill>
                  <a:srgbClr val="1F7A4D"/>
                </a:solidFill>
              </a:rPr>
              <a:t>FORCES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D9E05E-B13C-4E9A-9B75-4E205A15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Très bon pour initiation d’action; réduit la décision; adapté ADHD.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DDBE46-076A-45FE-884E-3ECD2B18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D2A2A"/>
                </a:solidFill>
              </a:defRPr>
            </a:pPr>
            <a:r>
              <a:rPr sz="975" b="1">
                <a:solidFill>
                  <a:srgbClr val="8D2A2A"/>
                </a:solidFill>
              </a:rPr>
              <a:t>FAIBLESSES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74CA36-6C30-454A-942A-1028900F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Peu de jeu; boucle émotionnelle faible; tâches plus linéaires.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19C234-D7BB-420F-B802-12C2D675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RÉPONSE MORAX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30CB55-850F-4D8F-8EB7-CF1B0A4A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Intégrer les routines comme mini-quêtes guidées dans la Station Focus.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DFD61D-BEAC-4A59-AFCE-B4626B59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848350"/>
            <a:ext cx="538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555555"/>
                </a:solidFill>
              </a:defRPr>
            </a:pPr>
            <a:r>
              <a:rPr sz="713">
                <a:solidFill>
                  <a:srgbClr val="555555"/>
                </a:solidFill>
              </a:rPr>
              <a:t>www.routinery.app/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81543b9f84a7b"/>
          <a:srcRect xmlns:a="http://schemas.openxmlformats.org/drawingml/2006/main" l="0" t="25835" r="0" b="25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562100"/>
            <a:ext cx="5381625" cy="1828800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d6646318af40e2"/>
          <a:srcRect xmlns:a="http://schemas.openxmlformats.org/drawingml/2006/main" l="0" t="25835" r="0" b="25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562100"/>
            <a:ext cx="5381625" cy="1828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75519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257F86-0362-4CB2-A0C1-66AF00F3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FICHES CONCURRENTES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2EB65-F0F4-41B5-BEC6-9367D2EB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0707"/>
                </a:solidFill>
              </a:defRPr>
            </a:pPr>
            <a:r>
              <a:rPr sz="2700" b="1">
                <a:solidFill>
                  <a:srgbClr val="070707"/>
                </a:solidFill>
              </a:rPr>
              <a:t>Le vidage mental visuel aide, mais ne suffit pas à créer un monde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2E3E2-6C3B-4739-99A6-C5609294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4D97B-6D60-48E7-925D-5720C6D0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41220-5C91-4FFA-AB1B-F731E0A2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31213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0707"/>
                </a:solidFill>
              </a:defRPr>
            </a:pPr>
            <a:r>
              <a:rPr sz="1875" b="1">
                <a:solidFill>
                  <a:srgbClr val="070707"/>
                </a:solidFill>
              </a:rPr>
              <a:t>WaterDo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0B566-9BCD-4C3A-9BAD-3F7EDA90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409" y="3609975"/>
            <a:ext cx="220646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Visual to-do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BD50C-1A0D-48BC-85AA-332689CA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86200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55555"/>
                </a:solidFill>
              </a:defRPr>
            </a:pPr>
            <a:r>
              <a:rPr sz="1163">
                <a:solidFill>
                  <a:srgbClr val="555555"/>
                </a:solidFill>
              </a:rPr>
              <a:t>Tâches transformées en bulles d’eau à éclater.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8ED23-AC8A-40EC-86E2-174B1D95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4D"/>
                </a:solidFill>
              </a:defRPr>
            </a:pPr>
            <a:r>
              <a:rPr sz="975" b="1">
                <a:solidFill>
                  <a:srgbClr val="1F7A4D"/>
                </a:solidFill>
              </a:rPr>
              <a:t>FORCES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260D0F-7385-43AA-8756-03B2577F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Très scanable; satisfaction immédiate; bonne métaphore de vidage mental.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FF724-4E98-49CC-BCC1-B6867BD7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2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D2A2A"/>
                </a:solidFill>
              </a:defRPr>
            </a:pPr>
            <a:r>
              <a:rPr sz="975" b="1">
                <a:solidFill>
                  <a:srgbClr val="8D2A2A"/>
                </a:solidFill>
              </a:rPr>
              <a:t>FAIBLESSES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53B9E-6920-4808-998B-251ED7A6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2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Gamification légère; pas de personnage ni arc narratif.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4AE86D-F1C2-43B2-BC4B-17F35676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RÉPONSE MORAX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518B77-8317-42AF-87D7-4D8A8A81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S’inspirer du traitement visuel des tâches pour une inbox moins anxiogène.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265D2-72C5-45F6-93AD-D8CBD89C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48350"/>
            <a:ext cx="538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555555"/>
                </a:solidFill>
              </a:defRPr>
            </a:pPr>
            <a:r>
              <a:rPr sz="713">
                <a:solidFill>
                  <a:srgbClr val="555555"/>
                </a:solidFill>
              </a:rPr>
              <a:t>waterdo.seekrtech.com/en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72B182-E278-4ED1-ACD0-1C0BC0C0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B606C7-8EE7-4BBE-91E6-C277020E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62350"/>
            <a:ext cx="31213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0707"/>
                </a:solidFill>
              </a:defRPr>
            </a:pPr>
            <a:r>
              <a:rPr sz="1875" b="1">
                <a:solidFill>
                  <a:srgbClr val="070707"/>
                </a:solidFill>
              </a:rPr>
              <a:t>Rabit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B69D41-D90B-41B2-9AE9-3DC5DDF4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284" y="3609975"/>
            <a:ext cx="220646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Plant habit tracker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783685-4979-4E84-9D32-A6F31202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86200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55555"/>
                </a:solidFill>
              </a:defRPr>
            </a:pPr>
            <a:r>
              <a:rPr sz="1163">
                <a:solidFill>
                  <a:srgbClr val="555555"/>
                </a:solidFill>
              </a:rPr>
              <a:t>Habitudes sous forme de plantes et streaks.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B60397-6E7F-45F8-AF34-88707C0A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4D"/>
                </a:solidFill>
              </a:defRPr>
            </a:pPr>
            <a:r>
              <a:rPr sz="975" b="1">
                <a:solidFill>
                  <a:srgbClr val="1F7A4D"/>
                </a:solidFill>
              </a:rPr>
              <a:t>FORCES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C65D31-FFB9-470D-9AE1-E4178A0E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Métaphore facile; visuel doux; onboarding simple.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8A25E2-1452-49D5-9678-53411E45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D2A2A"/>
                </a:solidFill>
              </a:defRPr>
            </a:pPr>
            <a:r>
              <a:rPr sz="975" b="1">
                <a:solidFill>
                  <a:srgbClr val="8D2A2A"/>
                </a:solidFill>
              </a:rPr>
              <a:t>FAIBLESSES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16906F-A78C-4F2B-981D-83E51201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La plante qui meurt peut culpabiliser; peu de productivité profonde.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72F300-AB52-40AE-A67D-41BEC254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RÉPONSE MORAX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7E54B4-39C0-4C86-8597-F78A847C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Éviter toute dégradation punitive de l’avatar ou de l’environnement.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7C79E9-01CA-44CA-B1A7-C0412116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848350"/>
            <a:ext cx="538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555555"/>
                </a:solidFill>
              </a:defRPr>
            </a:pPr>
            <a:r>
              <a:rPr sz="713">
                <a:solidFill>
                  <a:srgbClr val="555555"/>
                </a:solidFill>
              </a:rPr>
              <a:t>play.google.com/store/apps/details?id=com.blu.rabito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5ff5a18e54dee"/>
          <a:srcRect xmlns:a="http://schemas.openxmlformats.org/drawingml/2006/main" l="0" t="25835" r="0" b="25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562100"/>
            <a:ext cx="5381625" cy="1828800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bdbb0fd4b4159"/>
          <a:srcRect xmlns:a="http://schemas.openxmlformats.org/drawingml/2006/main" l="0" t="25835" r="0" b="25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562100"/>
            <a:ext cx="5381625" cy="1828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70463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94E339-5758-4E56-9AE3-5418E7BA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FICHES CONCURRENTES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584A8-61A6-45FE-AF9C-8CA42393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0707"/>
                </a:solidFill>
              </a:defRPr>
            </a:pPr>
            <a:r>
              <a:rPr sz="2700" b="1">
                <a:solidFill>
                  <a:srgbClr val="070707"/>
                </a:solidFill>
              </a:rPr>
              <a:t>Le body doubling montre que la présence peut débloquer l’action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3EDAF-9173-40F7-AE2F-F852855B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E2409-41F9-407E-9946-1BE47B3D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8CEB6-BC63-4F19-8572-CA3CD55B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31213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0707"/>
                </a:solidFill>
              </a:defRPr>
            </a:pPr>
            <a:r>
              <a:rPr sz="1875" b="1">
                <a:solidFill>
                  <a:srgbClr val="070707"/>
                </a:solidFill>
              </a:rPr>
              <a:t>Focusmate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CCC93-9B26-4D2E-8F58-6DF5B09F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409" y="3609975"/>
            <a:ext cx="220646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Body doubling humain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4CA5A-7EA6-4F75-BAA9-BC4B3262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86200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55555"/>
                </a:solidFill>
              </a:defRPr>
            </a:pPr>
            <a:r>
              <a:rPr sz="1163">
                <a:solidFill>
                  <a:srgbClr val="555555"/>
                </a:solidFill>
              </a:rPr>
              <a:t>Sessions vidéo avec un partenaire pour démarrer et tenir une tâche.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770C8-7D9B-44A9-B696-688576DC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4D"/>
                </a:solidFill>
              </a:defRPr>
            </a:pPr>
            <a:r>
              <a:rPr sz="975" b="1">
                <a:solidFill>
                  <a:srgbClr val="1F7A4D"/>
                </a:solidFill>
              </a:rPr>
              <a:t>FORCES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707149-4DF5-4072-B6E6-B1270E86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Très efficace pour accountability ADHD; rituel simple; preuve sociale réelle.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AC83F-B66F-4AAC-AD43-7D848EA3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2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D2A2A"/>
                </a:solidFill>
              </a:defRPr>
            </a:pPr>
            <a:r>
              <a:rPr sz="975" b="1">
                <a:solidFill>
                  <a:srgbClr val="8D2A2A"/>
                </a:solidFill>
              </a:rPr>
              <a:t>FAIBLESSES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A5F9DE-3BF6-438E-AD2E-5896BF7A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2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Friction de planification; pas un jeu; demande caméra et disponibilité.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DEA111-3C52-493A-BF7A-266E794E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RÉPONSE MORAX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52C57-9610-455B-B09B-285A41CE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Créer un body doubling léger via avatar/party avant d’aller vers humain.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5F65A0-7248-4238-9089-4E280327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48350"/>
            <a:ext cx="538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555555"/>
                </a:solidFill>
              </a:defRPr>
            </a:pPr>
            <a:r>
              <a:rPr sz="713">
                <a:solidFill>
                  <a:srgbClr val="555555"/>
                </a:solidFill>
              </a:rPr>
              <a:t>www.focusmate.com/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90DD36-38D8-4EE9-9D35-C0B87A5C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068106-63C8-47FA-B39B-69BC3C03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62350"/>
            <a:ext cx="31213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0707"/>
                </a:solidFill>
              </a:defRPr>
            </a:pPr>
            <a:r>
              <a:rPr sz="1875" b="1">
                <a:solidFill>
                  <a:srgbClr val="070707"/>
                </a:solidFill>
              </a:rPr>
              <a:t>dubbii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48C79A-0E24-4757-B13E-3C485DE2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284" y="3609975"/>
            <a:ext cx="220646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ADHD body-double videos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95B535-FFD7-4AA3-9A3E-78100F11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86200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55555"/>
                </a:solidFill>
              </a:defRPr>
            </a:pPr>
            <a:r>
              <a:rPr sz="1163">
                <a:solidFill>
                  <a:srgbClr val="555555"/>
                </a:solidFill>
              </a:rPr>
              <a:t>Vidéos de personnes qui accompagnent tâches ménagères, admin et self-care.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2E265E-3EB5-4763-85A8-09AF34E6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4D"/>
                </a:solidFill>
              </a:defRPr>
            </a:pPr>
            <a:r>
              <a:rPr sz="975" b="1">
                <a:solidFill>
                  <a:srgbClr val="1F7A4D"/>
                </a:solidFill>
              </a:rPr>
              <a:t>FORCES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2B7668-F271-42A1-9550-FC5ACDD4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Aide concrète au démarrage; très adapté tâches évitées/ennuyeuses.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7425CD-271D-474F-A1CD-63A7258F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D2A2A"/>
                </a:solidFill>
              </a:defRPr>
            </a:pPr>
            <a:r>
              <a:rPr sz="975" b="1">
                <a:solidFill>
                  <a:srgbClr val="8D2A2A"/>
                </a:solidFill>
              </a:rPr>
              <a:t>FAIBLESSES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9AE396-5DB0-4CD9-979B-14C71257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Bibliothèque vidéo plutôt que monde vivant; faible personnalisation RPG.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6C9E63-B58B-45FB-BA01-CC13DCA3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4476750"/>
            <a:ext cx="171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RÉPONSE MORAX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305CB9-99EF-4ED3-8BB9-FBD9DDE8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4705350"/>
            <a:ext cx="1717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070707"/>
                </a:solidFill>
              </a:defRPr>
            </a:pPr>
            <a:r>
              <a:rPr sz="1140">
                <a:solidFill>
                  <a:srgbClr val="070707"/>
                </a:solidFill>
              </a:rPr>
              <a:t>Transformer les tâches difficiles en quêtes guidées avec compagnon actif.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7E833D-248F-47A0-827E-C6117355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848350"/>
            <a:ext cx="538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555555"/>
                </a:solidFill>
              </a:defRPr>
            </a:pPr>
            <a:r>
              <a:rPr sz="713">
                <a:solidFill>
                  <a:srgbClr val="555555"/>
                </a:solidFill>
              </a:rPr>
              <a:t>play.google.com/store/apps/details?id=com.gravitywell.adhdlove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7168b3fa448e9"/>
          <a:srcRect xmlns:a="http://schemas.openxmlformats.org/drawingml/2006/main" l="0" t="25835" r="0" b="25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562100"/>
            <a:ext cx="5381625" cy="1828800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7158ad92a414d"/>
          <a:srcRect xmlns:a="http://schemas.openxmlformats.org/drawingml/2006/main" l="0" t="25835" r="0" b="25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562100"/>
            <a:ext cx="5381625" cy="1828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14021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90EFC6-807D-4598-ACE5-9F4C8F2B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POSITIONNEMENT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AE905-E5C6-443E-B57B-FB173E63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0707"/>
                </a:solidFill>
              </a:defRPr>
            </a:pPr>
            <a:r>
              <a:rPr sz="2700" b="1">
                <a:solidFill>
                  <a:srgbClr val="070707"/>
                </a:solidFill>
              </a:rPr>
              <a:t>Morax doit se positionner comme un compagnon Life RPG, pas comme un tracker de plus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A37C9-83E4-4195-A628-8497E0F7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98E8E-2222-4E21-8D3C-05384A23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Promesse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F921B-2149-4E07-8244-8FB14E28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66925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9B59A-0098-432C-8912-AD54E9CC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95525"/>
            <a:ext cx="2571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“Ton double RPG t’aide à transformer tes intentions en actions visibles, une quête à la fois.”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C4953-FB2D-47DF-83AA-923692A5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668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Différenciation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1429E-3702-425A-85BD-267BFA0B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66925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8295A-0CD5-49BF-92C7-D854AA53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95525"/>
            <a:ext cx="2571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Avatar 3D ressemblant + quêtes vérifiées + Station Focus + ton ADHD-friendly non culpabilisant.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2ADC8-97EC-4E67-A405-4DEFA04E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668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Contre-position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D181F-50DA-48C0-B674-7958E7E3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66925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8ADBF-90C5-4571-940E-BEE20939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95525"/>
            <a:ext cx="2571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Pas un pet générique, pas une to-do fantasy dense, pas un Pomodoro isolé, pas un planner ADHD austère.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A931B6-6552-4201-8F5B-7BD6E2D5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668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Risque à maîtriser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A5DD27-E894-4430-91F0-925A983A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66925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F79605-8647-487D-B6E9-0F633CBC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95525"/>
            <a:ext cx="2571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La richesse visuelle ne doit jamais devenir une nouvelle distraction ni une couche de réglages.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2333C7-4F81-4F62-AD9C-C8561E6C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707"/>
                </a:solidFill>
              </a:defRPr>
            </a:pPr>
            <a:r>
              <a:rPr sz="1800" b="1">
                <a:solidFill>
                  <a:srgbClr val="070707"/>
                </a:solidFill>
              </a:rPr>
              <a:t>Principe de design : “toujours vivant, jamais exigeant”. L’avatar bouge, accompagne et célèbre; il ne juge pas, ne se dégrade pas et ne transforme pas l’échec en honte.</a:t>
            </a:r>
          </a:p>
        </p:txBody>
      </p:sp>
    </p:spTree>
    <p:extLst>
      <p:ext uri="{BB962C8B-B14F-4D97-AF65-F5344CB8AC3E}">
        <p14:creationId xmlns:p14="http://schemas.microsoft.com/office/powerpoint/2010/main" val="103216460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2272A6-8467-4A3B-8697-6AA7D31D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IMPLICATIONS PRODUIT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F137A-59DE-4ECB-A9D8-B1D7A3CF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0707"/>
                </a:solidFill>
              </a:defRPr>
            </a:pPr>
            <a:r>
              <a:rPr sz="2700" b="1">
                <a:solidFill>
                  <a:srgbClr val="070707"/>
                </a:solidFill>
              </a:rPr>
              <a:t>La feuille de route V1 doit choisir peu de boucles, mais les rendre mémorables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3DEB5-8217-4292-909D-806C9215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7066D-256E-4E42-B789-B3BAD7CF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61673-9CB1-4414-B41E-CC388897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430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707"/>
                </a:solidFill>
              </a:defRPr>
            </a:pPr>
            <a:r>
              <a:rPr sz="1800" b="1">
                <a:solidFill>
                  <a:srgbClr val="070707"/>
                </a:solidFill>
              </a:rPr>
              <a:t>Avatar 3D idle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A67D76-0B31-45F7-92B7-C03CCAEC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621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Inspiré de gogh / Spirit City / lobby games. Toujours actif, mais calme, avec états visuels subtils.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96933-DD39-49EF-9AF1-FCA3A56B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05D4A-8C9F-4352-BAE9-764E189F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707"/>
                </a:solidFill>
              </a:defRPr>
            </a:pPr>
            <a:r>
              <a:rPr sz="1800" b="1">
                <a:solidFill>
                  <a:srgbClr val="070707"/>
                </a:solidFill>
              </a:rPr>
              <a:t>Station Focus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B6170-4D2C-4B86-979C-6F6EC58C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193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Inspirée de Focus Friend / Forest / Virtual Cottage. Une quête, un timer, une ambiance, une validation simple.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8DD135-8C7A-4A63-B143-6444BA9B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996DC-5736-4F0C-80F7-9277B0B2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575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707"/>
                </a:solidFill>
              </a:defRPr>
            </a:pPr>
            <a:r>
              <a:rPr sz="1800" b="1">
                <a:solidFill>
                  <a:srgbClr val="070707"/>
                </a:solidFill>
              </a:rPr>
              <a:t>Progression non punitive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AF9936-12CD-4C00-A831-91F41648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766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Inspirée de Finch / Avocation / SuperBetter. Reprise douce, aucun avatar abîmé, pas de honte de streak.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4F392D-DC29-4E3A-BC91-56A894A4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9B82FF-1481-41D1-831F-655E1548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148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707"/>
                </a:solidFill>
              </a:defRPr>
            </a:pPr>
            <a:r>
              <a:rPr sz="1800" b="1">
                <a:solidFill>
                  <a:srgbClr val="070707"/>
                </a:solidFill>
              </a:rPr>
              <a:t>Preuve réelle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C3BDA3-A8E9-41B8-B0BB-721F872C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338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Différenciation Morax. Photo, voix, HealthKit et confirmations transforment les tâches en accomplissements crédibles.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7877E1-0C2A-4144-971F-5C2EA7AE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A5D2E3-35C9-4466-A1A2-508A5596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720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707"/>
                </a:solidFill>
              </a:defRPr>
            </a:pPr>
            <a:r>
              <a:rPr sz="1800" b="1">
                <a:solidFill>
                  <a:srgbClr val="070707"/>
                </a:solidFill>
              </a:rPr>
              <a:t>Complexité progressive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9F0AC3-4FDE-4154-AB5A-2E9F2862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911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Inspirée des limites de Marvin / LifeUp. Les options se débloquent; l’utilisateur ne configure pas tout au départ.</a:t>
            </a:r>
          </a:p>
        </p:txBody>
      </p:sp>
    </p:spTree>
    <p:extLst>
      <p:ext uri="{BB962C8B-B14F-4D97-AF65-F5344CB8AC3E}">
        <p14:creationId xmlns:p14="http://schemas.microsoft.com/office/powerpoint/2010/main" val="30745075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EC6F1A-42BF-4DD6-BE87-87DC83B3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ANNEXE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246EC-A8A4-4374-8048-BC9311FB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0707"/>
                </a:solidFill>
              </a:defRPr>
            </a:pPr>
            <a:r>
              <a:rPr sz="2700" b="1">
                <a:solidFill>
                  <a:srgbClr val="070707"/>
                </a:solidFill>
              </a:rPr>
              <a:t>Sources visuelles utilisées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9C688-C262-4025-A651-EB7E5B19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553ED-00ED-4B71-951B-90341DB0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Captures réalisées depuis les sites publics officiels ou pages store accessibles au 7 juillet 2026. Les visuels servent à comparer les directions produit et ne sont pas destinés à être réutilisés comme assets Morax.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35917-FFC6-4B78-9914-E18B2BB9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070707"/>
                </a:solidFill>
              </a:defRPr>
            </a:pPr>
            <a:r>
              <a:rPr sz="788">
                <a:solidFill>
                  <a:srgbClr val="070707"/>
                </a:solidFill>
              </a:rPr>
              <a:t>gogh: gogh.gg/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C095D-0FE2-46BE-AC0B-3EC3AC89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070707"/>
                </a:solidFill>
              </a:defRPr>
            </a:pPr>
            <a:r>
              <a:rPr sz="788">
                <a:solidFill>
                  <a:srgbClr val="070707"/>
                </a:solidFill>
              </a:rPr>
              <a:t>On-Together: gigapuff.co/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495F9-DA66-409A-B881-684AF16E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070707"/>
                </a:solidFill>
              </a:defRPr>
            </a:pPr>
            <a:r>
              <a:rPr sz="788">
                <a:solidFill>
                  <a:srgbClr val="070707"/>
                </a:solidFill>
              </a:rPr>
              <a:t>Spirit City: store.steampowered.com/app/2113850/Spirit_City_Lofi_Sessions/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B8500-4C1E-4727-8A74-2292FB9E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070707"/>
                </a:solidFill>
              </a:defRPr>
            </a:pPr>
            <a:r>
              <a:rPr sz="788">
                <a:solidFill>
                  <a:srgbClr val="070707"/>
                </a:solidFill>
              </a:rPr>
              <a:t>Focus Friend: www.yourfocusfriend.com/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31196-90F3-4215-8CCA-2DD7AAB8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070707"/>
                </a:solidFill>
              </a:defRPr>
            </a:pPr>
            <a:r>
              <a:rPr sz="788">
                <a:solidFill>
                  <a:srgbClr val="070707"/>
                </a:solidFill>
              </a:rPr>
              <a:t>Focus Traveller: focus-traveller.webflow.io/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52C136-F3DD-42D8-B652-3945FAC9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070707"/>
                </a:solidFill>
              </a:defRPr>
            </a:pPr>
            <a:r>
              <a:rPr sz="788">
                <a:solidFill>
                  <a:srgbClr val="070707"/>
                </a:solidFill>
              </a:rPr>
              <a:t>Focumon: www.focumon.com/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BDDF5-8A2C-41A0-A750-F6772324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070707"/>
                </a:solidFill>
              </a:defRPr>
            </a:pPr>
            <a:r>
              <a:rPr sz="788">
                <a:solidFill>
                  <a:srgbClr val="070707"/>
                </a:solidFill>
              </a:rPr>
              <a:t>Habitica: habitica.com/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E2224-8B8A-4848-A597-D4FBF375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070707"/>
                </a:solidFill>
              </a:defRPr>
            </a:pPr>
            <a:r>
              <a:rPr sz="788">
                <a:solidFill>
                  <a:srgbClr val="070707"/>
                </a:solidFill>
              </a:rPr>
              <a:t>TaskHero: taskhero.app/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FE2859-30D3-49EB-9375-31CB9A27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070707"/>
                </a:solidFill>
              </a:defRPr>
            </a:pPr>
            <a:r>
              <a:rPr sz="788">
                <a:solidFill>
                  <a:srgbClr val="070707"/>
                </a:solidFill>
              </a:rPr>
              <a:t>Do It Now: do-it-now.app/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0DA3A-6DD5-4D2C-8145-727A5D81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070707"/>
                </a:solidFill>
              </a:defRPr>
            </a:pPr>
            <a:r>
              <a:rPr sz="788">
                <a:solidFill>
                  <a:srgbClr val="070707"/>
                </a:solidFill>
              </a:rPr>
              <a:t>LifeUp: lifeup.ulives.io/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8C316E-541D-461E-83D6-19EA4B13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070707"/>
                </a:solidFill>
              </a:defRPr>
            </a:pPr>
            <a:r>
              <a:rPr sz="788">
                <a:solidFill>
                  <a:srgbClr val="070707"/>
                </a:solidFill>
              </a:rPr>
              <a:t>Habit Hunter: habithunter.activeuser.co/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A2F731-967D-4E8C-9C9A-C9F64261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070707"/>
                </a:solidFill>
              </a:defRPr>
            </a:pPr>
            <a:r>
              <a:rPr sz="788">
                <a:solidFill>
                  <a:srgbClr val="070707"/>
                </a:solidFill>
              </a:rPr>
              <a:t>SuperBetter: superbetter.com/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AF5EE1-C9AE-49E8-A3A1-C8EBB00A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070707"/>
                </a:solidFill>
              </a:defRPr>
            </a:pPr>
            <a:r>
              <a:rPr sz="788">
                <a:solidFill>
                  <a:srgbClr val="070707"/>
                </a:solidFill>
              </a:rPr>
              <a:t>Forest: forestapp.cc/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D3FB55-01AE-4D0C-9AE0-23524E81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070707"/>
                </a:solidFill>
              </a:defRPr>
            </a:pPr>
            <a:r>
              <a:rPr sz="788">
                <a:solidFill>
                  <a:srgbClr val="070707"/>
                </a:solidFill>
              </a:rPr>
              <a:t>Flora: flora.appfinca.com/en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BD554B-6DF8-4E0A-BD8D-724C237C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070707"/>
                </a:solidFill>
              </a:defRPr>
            </a:pPr>
            <a:r>
              <a:rPr sz="788">
                <a:solidFill>
                  <a:srgbClr val="070707"/>
                </a:solidFill>
              </a:rPr>
              <a:t>Study Bunny: www.superbyte.site/studybunny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0C6F9F-5CB9-4276-9B41-587B77F0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070707"/>
                </a:solidFill>
              </a:defRPr>
            </a:pPr>
            <a:r>
              <a:rPr sz="788">
                <a:solidFill>
                  <a:srgbClr val="070707"/>
                </a:solidFill>
              </a:rPr>
              <a:t>Focus Dog: focusdog.app/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9DA900-3DC8-42F5-88A6-5ECF1824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527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070707"/>
                </a:solidFill>
              </a:defRPr>
            </a:pPr>
            <a:r>
              <a:rPr sz="788">
                <a:solidFill>
                  <a:srgbClr val="070707"/>
                </a:solidFill>
              </a:rPr>
              <a:t>PuppyFocus: puppyfocusapp.com/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E861BF-BE1B-47EB-B179-0D455DBC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070707"/>
                </a:solidFill>
              </a:defRPr>
            </a:pPr>
            <a:r>
              <a:rPr sz="788">
                <a:solidFill>
                  <a:srgbClr val="070707"/>
                </a:solidFill>
              </a:rPr>
              <a:t>Virtual Cottage: store.steampowered.com/app/1369320/Virtual_Cottage/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ED5487-7C80-478B-B82C-35ADBF64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99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070707"/>
                </a:solidFill>
              </a:defRPr>
            </a:pPr>
            <a:r>
              <a:rPr sz="788">
                <a:solidFill>
                  <a:srgbClr val="070707"/>
                </a:solidFill>
              </a:rPr>
              <a:t>Finch: finchcare.com/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2D4DED-E21A-4DB9-8C4B-A8BAA8F4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070707"/>
                </a:solidFill>
              </a:defRPr>
            </a:pPr>
            <a:r>
              <a:rPr sz="788">
                <a:solidFill>
                  <a:srgbClr val="070707"/>
                </a:solidFill>
              </a:rPr>
              <a:t>Habitomic: apps.apple.com/us/app/habitomic-adhd-friendly-habits/id1609261995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09B60D-5EF6-42A4-89DC-A03DE945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070707"/>
                </a:solidFill>
              </a:defRPr>
            </a:pPr>
            <a:r>
              <a:rPr sz="788">
                <a:solidFill>
                  <a:srgbClr val="070707"/>
                </a:solidFill>
              </a:rPr>
              <a:t>Amazing Marvin: amazingmarvin.com/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3DD997-F21B-4A08-92FA-8936DA87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070707"/>
                </a:solidFill>
              </a:defRPr>
            </a:pPr>
            <a:r>
              <a:rPr sz="788">
                <a:solidFill>
                  <a:srgbClr val="070707"/>
                </a:solidFill>
              </a:rPr>
              <a:t>Lunatask: lunatask.app/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E30227-2F41-4F0D-9747-DAD46ED3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070707"/>
                </a:solidFill>
              </a:defRPr>
            </a:pPr>
            <a:r>
              <a:rPr sz="788">
                <a:solidFill>
                  <a:srgbClr val="070707"/>
                </a:solidFill>
              </a:rPr>
              <a:t>Routinery: www.routinery.app/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5BF2F3-B62E-4066-BD22-F91F4436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529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070707"/>
                </a:solidFill>
              </a:defRPr>
            </a:pPr>
            <a:r>
              <a:rPr sz="788">
                <a:solidFill>
                  <a:srgbClr val="070707"/>
                </a:solidFill>
              </a:rPr>
              <a:t>Avocation: avocation.app/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423E69-ADAB-441F-B382-7782BF25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070707"/>
                </a:solidFill>
              </a:defRPr>
            </a:pPr>
            <a:r>
              <a:rPr sz="788">
                <a:solidFill>
                  <a:srgbClr val="070707"/>
                </a:solidFill>
              </a:rPr>
              <a:t>WaterDo: waterdo.seekrtech.com/en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B256B2-2995-4CD0-8A04-FDAF867C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01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070707"/>
                </a:solidFill>
              </a:defRPr>
            </a:pPr>
            <a:r>
              <a:rPr sz="788">
                <a:solidFill>
                  <a:srgbClr val="070707"/>
                </a:solidFill>
              </a:rPr>
              <a:t>Rabit: play.google.com/store/apps/details?id=com.blu.rabito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FFB07A-0FC2-4371-8537-68F1DEC9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387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070707"/>
                </a:solidFill>
              </a:defRPr>
            </a:pPr>
            <a:r>
              <a:rPr sz="788">
                <a:solidFill>
                  <a:srgbClr val="070707"/>
                </a:solidFill>
              </a:rPr>
              <a:t>Focusmate: www.focusmate.com/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6B6D48-7765-4E72-AD3B-7F9C9837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070707"/>
                </a:solidFill>
              </a:defRPr>
            </a:pPr>
            <a:r>
              <a:rPr sz="788">
                <a:solidFill>
                  <a:srgbClr val="070707"/>
                </a:solidFill>
              </a:rPr>
              <a:t>dubbii: play.google.com/store/apps/details?id=com.gravitywell.adhdlove</a:t>
            </a:r>
          </a:p>
        </p:txBody>
      </p:sp>
    </p:spTree>
    <p:extLst>
      <p:ext uri="{BB962C8B-B14F-4D97-AF65-F5344CB8AC3E}">
        <p14:creationId xmlns:p14="http://schemas.microsoft.com/office/powerpoint/2010/main" val="18272303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2026-07-07T10:09:49.8350000Z</dcterms:created>
  <dcterms:modified xsi:type="dcterms:W3CDTF">2026-07-07T10:09:49.8350000Z</dcterms:modified>
</coreProperties>
</file>